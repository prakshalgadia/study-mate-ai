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143000"/>
            <a:ext cx="10515600" cy="914400"/>
          </a:xfrm>
          <a:prstGeom prst="rect">
            <a:avLst/>
          </a:prstGeom>
          <a:noFill/>
        </p:spPr>
        <p:txBody>
          <a:bodyPr wrap="none">
            <a:spAutoFit/>
          </a:bodyPr>
          <a:lstStyle/>
          <a:p>
            <a:pPr>
              <a:defRPr sz="4400" b="1">
                <a:solidFill>
                  <a:srgbClr val="192D48"/>
                </a:solidFill>
                <a:latin typeface="Aptos Display"/>
              </a:defRPr>
            </a:pPr>
            <a:r>
              <a:t>StudyMate AI</a:t>
            </a:r>
          </a:p>
        </p:txBody>
      </p:sp>
      <p:sp>
        <p:nvSpPr>
          <p:cNvPr id="4" name="TextBox 3"/>
          <p:cNvSpPr txBox="1"/>
          <p:nvPr/>
        </p:nvSpPr>
        <p:spPr>
          <a:xfrm>
            <a:off x="804672" y="2103120"/>
            <a:ext cx="10058400" cy="640080"/>
          </a:xfrm>
          <a:prstGeom prst="rect">
            <a:avLst/>
          </a:prstGeom>
          <a:noFill/>
        </p:spPr>
        <p:txBody>
          <a:bodyPr wrap="none">
            <a:spAutoFit/>
          </a:bodyPr>
          <a:lstStyle/>
          <a:p>
            <a:pPr>
              <a:defRPr sz="2300">
                <a:solidFill>
                  <a:srgbClr val="3465A4"/>
                </a:solidFill>
                <a:latin typeface="Aptos"/>
              </a:defRPr>
            </a:pPr>
            <a:r>
              <a:t>AI-Based Student Academic Assistant</a:t>
            </a:r>
          </a:p>
        </p:txBody>
      </p:sp>
      <p:sp>
        <p:nvSpPr>
          <p:cNvPr id="5" name="TextBox 4"/>
          <p:cNvSpPr txBox="1"/>
          <p:nvPr/>
        </p:nvSpPr>
        <p:spPr>
          <a:xfrm>
            <a:off x="822960" y="2880360"/>
            <a:ext cx="8686800" cy="914400"/>
          </a:xfrm>
          <a:prstGeom prst="rect">
            <a:avLst/>
          </a:prstGeom>
          <a:noFill/>
        </p:spPr>
        <p:txBody>
          <a:bodyPr wrap="none">
            <a:spAutoFit/>
          </a:bodyPr>
          <a:lstStyle/>
          <a:p>
            <a:pPr>
              <a:defRPr sz="1700">
                <a:solidFill>
                  <a:srgbClr val="5A6470"/>
                </a:solidFill>
                <a:latin typeface="Aptos"/>
              </a:defRPr>
            </a:pPr>
            <a:r>
              <a:t>A small Python project for checking academic performance,</a:t>
            </a:r>
            <a:br/>
            <a:r>
              <a:t>finding weak subjects and making a simple study plan.</a:t>
            </a:r>
          </a:p>
        </p:txBody>
      </p:sp>
      <p:sp>
        <p:nvSpPr>
          <p:cNvPr id="6" name="Rounded Rectangle 5"/>
          <p:cNvSpPr/>
          <p:nvPr/>
        </p:nvSpPr>
        <p:spPr>
          <a:xfrm>
            <a:off x="777240" y="4251960"/>
            <a:ext cx="3291840" cy="1143000"/>
          </a:xfrm>
          <a:prstGeom prst="roundRect">
            <a:avLst/>
          </a:prstGeom>
          <a:solidFill>
            <a:srgbClr val="E2EEFA"/>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4251960"/>
            <a:ext cx="73152" cy="11430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4370832"/>
            <a:ext cx="2971800" cy="365760"/>
          </a:xfrm>
          <a:prstGeom prst="rect">
            <a:avLst/>
          </a:prstGeom>
          <a:noFill/>
        </p:spPr>
        <p:txBody>
          <a:bodyPr wrap="none">
            <a:spAutoFit/>
          </a:bodyPr>
          <a:lstStyle/>
          <a:p>
            <a:pPr>
              <a:defRPr sz="1500" b="1">
                <a:solidFill>
                  <a:srgbClr val="192D48"/>
                </a:solidFill>
                <a:latin typeface="Aptos"/>
              </a:defRPr>
            </a:pPr>
            <a:r>
              <a:t>Student</a:t>
            </a:r>
          </a:p>
        </p:txBody>
      </p:sp>
      <p:sp>
        <p:nvSpPr>
          <p:cNvPr id="9" name="TextBox 8"/>
          <p:cNvSpPr txBox="1"/>
          <p:nvPr/>
        </p:nvSpPr>
        <p:spPr>
          <a:xfrm>
            <a:off x="978408" y="4818888"/>
            <a:ext cx="2944368" cy="484632"/>
          </a:xfrm>
          <a:prstGeom prst="rect">
            <a:avLst/>
          </a:prstGeom>
          <a:noFill/>
        </p:spPr>
        <p:txBody>
          <a:bodyPr wrap="none">
            <a:spAutoFit/>
          </a:bodyPr>
          <a:lstStyle/>
          <a:p>
            <a:pPr>
              <a:defRPr sz="1200">
                <a:solidFill>
                  <a:srgbClr val="5A6470"/>
                </a:solidFill>
                <a:latin typeface="Aptos"/>
              </a:defRPr>
            </a:pPr>
            <a:r>
              <a:t>Prakshal Gadia</a:t>
            </a:r>
          </a:p>
        </p:txBody>
      </p:sp>
      <p:sp>
        <p:nvSpPr>
          <p:cNvPr id="10" name="Rounded Rectangle 9"/>
          <p:cNvSpPr/>
          <p:nvPr/>
        </p:nvSpPr>
        <p:spPr>
          <a:xfrm>
            <a:off x="4297680" y="4251960"/>
            <a:ext cx="3291840" cy="1143000"/>
          </a:xfrm>
          <a:prstGeom prst="roundRect">
            <a:avLst/>
          </a:prstGeom>
          <a:solidFill>
            <a:srgbClr val="E5F2E8"/>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4251960"/>
            <a:ext cx="73152" cy="114300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4370832"/>
            <a:ext cx="2971800" cy="365760"/>
          </a:xfrm>
          <a:prstGeom prst="rect">
            <a:avLst/>
          </a:prstGeom>
          <a:noFill/>
        </p:spPr>
        <p:txBody>
          <a:bodyPr wrap="none">
            <a:spAutoFit/>
          </a:bodyPr>
          <a:lstStyle/>
          <a:p>
            <a:pPr>
              <a:defRPr sz="1500" b="1">
                <a:solidFill>
                  <a:srgbClr val="192D48"/>
                </a:solidFill>
                <a:latin typeface="Aptos"/>
              </a:defRPr>
            </a:pPr>
            <a:r>
              <a:t>Program</a:t>
            </a:r>
          </a:p>
        </p:txBody>
      </p:sp>
      <p:sp>
        <p:nvSpPr>
          <p:cNvPr id="13" name="TextBox 12"/>
          <p:cNvSpPr txBox="1"/>
          <p:nvPr/>
        </p:nvSpPr>
        <p:spPr>
          <a:xfrm>
            <a:off x="4498848" y="4818888"/>
            <a:ext cx="2944368" cy="484632"/>
          </a:xfrm>
          <a:prstGeom prst="rect">
            <a:avLst/>
          </a:prstGeom>
          <a:noFill/>
        </p:spPr>
        <p:txBody>
          <a:bodyPr wrap="none">
            <a:spAutoFit/>
          </a:bodyPr>
          <a:lstStyle/>
          <a:p>
            <a:pPr>
              <a:defRPr sz="1200">
                <a:solidFill>
                  <a:srgbClr val="5A6470"/>
                </a:solidFill>
                <a:latin typeface="Aptos"/>
              </a:defRPr>
            </a:pPr>
            <a:r>
              <a:t>Integrated M.Tech in Artificial Intelligence</a:t>
            </a:r>
          </a:p>
        </p:txBody>
      </p:sp>
      <p:sp>
        <p:nvSpPr>
          <p:cNvPr id="14" name="Rounded Rectangle 13"/>
          <p:cNvSpPr/>
          <p:nvPr/>
        </p:nvSpPr>
        <p:spPr>
          <a:xfrm>
            <a:off x="7818120" y="4251960"/>
            <a:ext cx="3291840" cy="1143000"/>
          </a:xfrm>
          <a:prstGeom prst="roundRect">
            <a:avLst/>
          </a:prstGeom>
          <a:solidFill>
            <a:srgbClr val="FAEEDE"/>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18120" y="4251960"/>
            <a:ext cx="73152" cy="114300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19288" y="4370832"/>
            <a:ext cx="2971800" cy="365760"/>
          </a:xfrm>
          <a:prstGeom prst="rect">
            <a:avLst/>
          </a:prstGeom>
          <a:noFill/>
        </p:spPr>
        <p:txBody>
          <a:bodyPr wrap="none">
            <a:spAutoFit/>
          </a:bodyPr>
          <a:lstStyle/>
          <a:p>
            <a:pPr>
              <a:defRPr sz="1500" b="1">
                <a:solidFill>
                  <a:srgbClr val="192D48"/>
                </a:solidFill>
                <a:latin typeface="Aptos"/>
              </a:defRPr>
            </a:pPr>
            <a:r>
              <a:t>Institute</a:t>
            </a:r>
          </a:p>
        </p:txBody>
      </p:sp>
      <p:sp>
        <p:nvSpPr>
          <p:cNvPr id="17" name="TextBox 16"/>
          <p:cNvSpPr txBox="1"/>
          <p:nvPr/>
        </p:nvSpPr>
        <p:spPr>
          <a:xfrm>
            <a:off x="8019288" y="4818888"/>
            <a:ext cx="2944368" cy="484632"/>
          </a:xfrm>
          <a:prstGeom prst="rect">
            <a:avLst/>
          </a:prstGeom>
          <a:noFill/>
        </p:spPr>
        <p:txBody>
          <a:bodyPr wrap="none">
            <a:spAutoFit/>
          </a:bodyPr>
          <a:lstStyle/>
          <a:p>
            <a:pPr>
              <a:defRPr sz="1200">
                <a:solidFill>
                  <a:srgbClr val="5A6470"/>
                </a:solidFill>
                <a:latin typeface="Aptos"/>
              </a:defRPr>
            </a:pPr>
            <a:r>
              <a:t>VIT Bhopal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 Introduction</a:t>
            </a:r>
          </a:p>
        </p:txBody>
      </p:sp>
      <p:sp>
        <p:nvSpPr>
          <p:cNvPr id="3" name="TextBox 2"/>
          <p:cNvSpPr txBox="1"/>
          <p:nvPr/>
        </p:nvSpPr>
        <p:spPr>
          <a:xfrm>
            <a:off x="777240" y="1234440"/>
            <a:ext cx="10698480" cy="4937760"/>
          </a:xfrm>
          <a:prstGeom prst="rect">
            <a:avLst/>
          </a:prstGeom>
          <a:noFill/>
        </p:spPr>
        <p:txBody>
          <a:bodyPr wrap="square">
            <a:spAutoFit/>
          </a:bodyPr>
          <a:lstStyle/>
          <a:p>
            <a:pPr>
              <a:spcAft>
                <a:spcPts val="1000"/>
              </a:spcAft>
              <a:defRPr sz="1700">
                <a:solidFill>
                  <a:srgbClr val="191919"/>
                </a:solidFill>
                <a:latin typeface="Aptos"/>
              </a:defRPr>
            </a:pPr>
            <a:r>
              <a:t>• Students have marks, attendance and exam dates, but these things are usually checked separately.</a:t>
            </a:r>
          </a:p>
          <a:p>
            <a:pPr>
              <a:spcAft>
                <a:spcPts val="1000"/>
              </a:spcAft>
              <a:defRPr sz="1700">
                <a:solidFill>
                  <a:srgbClr val="191919"/>
                </a:solidFill>
                <a:latin typeface="Aptos"/>
              </a:defRPr>
            </a:pPr>
            <a:r>
              <a:t>• It can be difficult to know which subject needs more attention.</a:t>
            </a:r>
          </a:p>
          <a:p>
            <a:pPr>
              <a:spcAft>
                <a:spcPts val="1000"/>
              </a:spcAft>
              <a:defRPr sz="1700">
                <a:solidFill>
                  <a:srgbClr val="191919"/>
                </a:solidFill>
                <a:latin typeface="Aptos"/>
              </a:defRPr>
            </a:pPr>
            <a:r>
              <a:t>• I made StudyMate AI as a small academic assistant for this problem.</a:t>
            </a:r>
          </a:p>
          <a:p>
            <a:pPr>
              <a:spcAft>
                <a:spcPts val="1000"/>
              </a:spcAft>
              <a:defRPr sz="1700">
                <a:solidFill>
                  <a:srgbClr val="191919"/>
                </a:solidFill>
                <a:latin typeface="Aptos"/>
              </a:defRPr>
            </a:pPr>
            <a:r>
              <a:t>• The project takes basic student data and gives a simple recommendation and study plan.</a:t>
            </a:r>
          </a:p>
          <a:p>
            <a:pPr>
              <a:spcAft>
                <a:spcPts val="1000"/>
              </a:spcAft>
              <a:defRPr sz="1700">
                <a:solidFill>
                  <a:srgbClr val="191919"/>
                </a:solidFill>
                <a:latin typeface="Aptos"/>
              </a:defRPr>
            </a:pPr>
            <a:r>
              <a:t>• The current recommendation is rule-based using basic Python conditions. It is not a machine-learning model.</a:t>
            </a:r>
          </a:p>
        </p:txBody>
      </p:sp>
      <p:sp>
        <p:nvSpPr>
          <p:cNvPr id="4" name="Rectangle 3"/>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6" name="TextBox 5"/>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2. Problem Statement &amp; Objectives</a:t>
            </a:r>
          </a:p>
        </p:txBody>
      </p:sp>
      <p:sp>
        <p:nvSpPr>
          <p:cNvPr id="3" name="Rounded Rectangle 2"/>
          <p:cNvSpPr/>
          <p:nvPr/>
        </p:nvSpPr>
        <p:spPr>
          <a:xfrm>
            <a:off x="640080" y="1280160"/>
            <a:ext cx="5349240" cy="452628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280160"/>
            <a:ext cx="73152" cy="4526280"/>
          </a:xfrm>
          <a:prstGeom prst="rect">
            <a:avLst/>
          </a:prstGeom>
          <a:solidFill>
            <a:srgbClr val="B4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1399031"/>
            <a:ext cx="5029200" cy="365760"/>
          </a:xfrm>
          <a:prstGeom prst="rect">
            <a:avLst/>
          </a:prstGeom>
          <a:noFill/>
        </p:spPr>
        <p:txBody>
          <a:bodyPr wrap="none">
            <a:spAutoFit/>
          </a:bodyPr>
          <a:lstStyle/>
          <a:p>
            <a:pPr>
              <a:defRPr sz="1500" b="1">
                <a:solidFill>
                  <a:srgbClr val="192D48"/>
                </a:solidFill>
                <a:latin typeface="Aptos"/>
              </a:defRPr>
            </a:pPr>
            <a:r>
              <a:t>Problem Statement</a:t>
            </a:r>
          </a:p>
        </p:txBody>
      </p:sp>
      <p:sp>
        <p:nvSpPr>
          <p:cNvPr id="6" name="TextBox 5"/>
          <p:cNvSpPr txBox="1"/>
          <p:nvPr/>
        </p:nvSpPr>
        <p:spPr>
          <a:xfrm>
            <a:off x="841247" y="1847088"/>
            <a:ext cx="5001768" cy="3867912"/>
          </a:xfrm>
          <a:prstGeom prst="rect">
            <a:avLst/>
          </a:prstGeom>
          <a:noFill/>
        </p:spPr>
        <p:txBody>
          <a:bodyPr wrap="none">
            <a:spAutoFit/>
          </a:bodyPr>
          <a:lstStyle/>
          <a:p>
            <a:pPr>
              <a:defRPr sz="1200">
                <a:solidFill>
                  <a:srgbClr val="5A6470"/>
                </a:solidFill>
                <a:latin typeface="Aptos"/>
              </a:defRPr>
            </a:pPr>
            <a:r>
              <a:t>Students may know their marks but still not know what to study first. Attendance, exam dates and marks are not always considered together. This project tries to give one simple place for this information.</a:t>
            </a:r>
          </a:p>
        </p:txBody>
      </p:sp>
      <p:sp>
        <p:nvSpPr>
          <p:cNvPr id="7" name="Rounded Rectangle 6"/>
          <p:cNvSpPr/>
          <p:nvPr/>
        </p:nvSpPr>
        <p:spPr>
          <a:xfrm>
            <a:off x="6217920" y="1280160"/>
            <a:ext cx="5349240" cy="452628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280160"/>
            <a:ext cx="73152" cy="452628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1399031"/>
            <a:ext cx="5029200" cy="365760"/>
          </a:xfrm>
          <a:prstGeom prst="rect">
            <a:avLst/>
          </a:prstGeom>
          <a:noFill/>
        </p:spPr>
        <p:txBody>
          <a:bodyPr wrap="none">
            <a:spAutoFit/>
          </a:bodyPr>
          <a:lstStyle/>
          <a:p>
            <a:pPr>
              <a:defRPr sz="1500" b="1">
                <a:solidFill>
                  <a:srgbClr val="192D48"/>
                </a:solidFill>
                <a:latin typeface="Aptos"/>
              </a:defRPr>
            </a:pPr>
            <a:r>
              <a:t>Objectives</a:t>
            </a:r>
          </a:p>
        </p:txBody>
      </p:sp>
      <p:sp>
        <p:nvSpPr>
          <p:cNvPr id="10" name="TextBox 9"/>
          <p:cNvSpPr txBox="1"/>
          <p:nvPr/>
        </p:nvSpPr>
        <p:spPr>
          <a:xfrm>
            <a:off x="6419088" y="1847088"/>
            <a:ext cx="5001768" cy="3867912"/>
          </a:xfrm>
          <a:prstGeom prst="rect">
            <a:avLst/>
          </a:prstGeom>
          <a:noFill/>
        </p:spPr>
        <p:txBody>
          <a:bodyPr wrap="none">
            <a:spAutoFit/>
          </a:bodyPr>
          <a:lstStyle/>
          <a:p>
            <a:pPr>
              <a:defRPr sz="1200">
                <a:solidFill>
                  <a:srgbClr val="5A6470"/>
                </a:solidFill>
                <a:latin typeface="Aptos"/>
              </a:defRPr>
            </a:pPr>
            <a:r>
              <a:t>• Store student and subject information</a:t>
            </a:r>
            <a:br/>
            <a:r>
              <a:t>• Check marks and attendance</a:t>
            </a:r>
            <a:br/>
            <a:r>
              <a:t>• Check exam dates</a:t>
            </a:r>
            <a:br/>
            <a:r>
              <a:t>• Find subject priority</a:t>
            </a:r>
            <a:br/>
            <a:r>
              <a:t>• Give recommendation</a:t>
            </a:r>
            <a:br/>
            <a:r>
              <a:t>• Suggest study hours</a:t>
            </a:r>
            <a:br/>
            <a:r>
              <a:t>• Track topic progress</a:t>
            </a:r>
            <a:br/>
            <a:r>
              <a:t>• Store data in SQLite</a:t>
            </a:r>
          </a:p>
        </p:txBody>
      </p:sp>
      <p:sp>
        <p:nvSpPr>
          <p:cNvPr id="11" name="Rectangle 10"/>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13" name="TextBox 12"/>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3. Main Features</a:t>
            </a:r>
          </a:p>
        </p:txBody>
      </p:sp>
      <p:sp>
        <p:nvSpPr>
          <p:cNvPr id="3" name="Rounded Rectangle 2"/>
          <p:cNvSpPr/>
          <p:nvPr/>
        </p:nvSpPr>
        <p:spPr>
          <a:xfrm>
            <a:off x="594360" y="123444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1234440"/>
            <a:ext cx="73152" cy="18288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53312"/>
            <a:ext cx="2240279" cy="365760"/>
          </a:xfrm>
          <a:prstGeom prst="rect">
            <a:avLst/>
          </a:prstGeom>
          <a:noFill/>
        </p:spPr>
        <p:txBody>
          <a:bodyPr wrap="none">
            <a:spAutoFit/>
          </a:bodyPr>
          <a:lstStyle/>
          <a:p>
            <a:pPr>
              <a:defRPr sz="1500" b="1">
                <a:solidFill>
                  <a:srgbClr val="192D48"/>
                </a:solidFill>
                <a:latin typeface="Aptos"/>
              </a:defRPr>
            </a:pPr>
            <a:r>
              <a:t>Student Details</a:t>
            </a:r>
          </a:p>
        </p:txBody>
      </p:sp>
      <p:sp>
        <p:nvSpPr>
          <p:cNvPr id="6" name="TextBox 5"/>
          <p:cNvSpPr txBox="1"/>
          <p:nvPr/>
        </p:nvSpPr>
        <p:spPr>
          <a:xfrm>
            <a:off x="795528" y="1801368"/>
            <a:ext cx="2212848" cy="1170432"/>
          </a:xfrm>
          <a:prstGeom prst="rect">
            <a:avLst/>
          </a:prstGeom>
          <a:noFill/>
        </p:spPr>
        <p:txBody>
          <a:bodyPr wrap="none">
            <a:spAutoFit/>
          </a:bodyPr>
          <a:lstStyle/>
          <a:p>
            <a:pPr>
              <a:defRPr sz="1200">
                <a:solidFill>
                  <a:srgbClr val="5A6470"/>
                </a:solidFill>
                <a:latin typeface="Aptos"/>
              </a:defRPr>
            </a:pPr>
            <a:r>
              <a:t>Name, course and semester</a:t>
            </a:r>
          </a:p>
        </p:txBody>
      </p:sp>
      <p:sp>
        <p:nvSpPr>
          <p:cNvPr id="7" name="Rounded Rectangle 6"/>
          <p:cNvSpPr/>
          <p:nvPr/>
        </p:nvSpPr>
        <p:spPr>
          <a:xfrm>
            <a:off x="3474720" y="123444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0" y="1234440"/>
            <a:ext cx="73152" cy="182880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75887" y="1353312"/>
            <a:ext cx="2240279" cy="365760"/>
          </a:xfrm>
          <a:prstGeom prst="rect">
            <a:avLst/>
          </a:prstGeom>
          <a:noFill/>
        </p:spPr>
        <p:txBody>
          <a:bodyPr wrap="none">
            <a:spAutoFit/>
          </a:bodyPr>
          <a:lstStyle/>
          <a:p>
            <a:pPr>
              <a:defRPr sz="1500" b="1">
                <a:solidFill>
                  <a:srgbClr val="192D48"/>
                </a:solidFill>
                <a:latin typeface="Aptos"/>
              </a:defRPr>
            </a:pPr>
            <a:r>
              <a:t>Performance</a:t>
            </a:r>
          </a:p>
        </p:txBody>
      </p:sp>
      <p:sp>
        <p:nvSpPr>
          <p:cNvPr id="10" name="TextBox 9"/>
          <p:cNvSpPr txBox="1"/>
          <p:nvPr/>
        </p:nvSpPr>
        <p:spPr>
          <a:xfrm>
            <a:off x="3675887" y="1801368"/>
            <a:ext cx="2212848" cy="1170432"/>
          </a:xfrm>
          <a:prstGeom prst="rect">
            <a:avLst/>
          </a:prstGeom>
          <a:noFill/>
        </p:spPr>
        <p:txBody>
          <a:bodyPr wrap="none">
            <a:spAutoFit/>
          </a:bodyPr>
          <a:lstStyle/>
          <a:p>
            <a:pPr>
              <a:defRPr sz="1200">
                <a:solidFill>
                  <a:srgbClr val="5A6470"/>
                </a:solidFill>
                <a:latin typeface="Aptos"/>
              </a:defRPr>
            </a:pPr>
            <a:r>
              <a:t>Marks and lowest marks</a:t>
            </a:r>
          </a:p>
        </p:txBody>
      </p:sp>
      <p:sp>
        <p:nvSpPr>
          <p:cNvPr id="11" name="Rounded Rectangle 10"/>
          <p:cNvSpPr/>
          <p:nvPr/>
        </p:nvSpPr>
        <p:spPr>
          <a:xfrm>
            <a:off x="6355080" y="123444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80" y="1234440"/>
            <a:ext cx="73152" cy="182880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8" y="1353312"/>
            <a:ext cx="2240279" cy="365760"/>
          </a:xfrm>
          <a:prstGeom prst="rect">
            <a:avLst/>
          </a:prstGeom>
          <a:noFill/>
        </p:spPr>
        <p:txBody>
          <a:bodyPr wrap="none">
            <a:spAutoFit/>
          </a:bodyPr>
          <a:lstStyle/>
          <a:p>
            <a:pPr>
              <a:defRPr sz="1500" b="1">
                <a:solidFill>
                  <a:srgbClr val="192D48"/>
                </a:solidFill>
                <a:latin typeface="Aptos"/>
              </a:defRPr>
            </a:pPr>
            <a:r>
              <a:t>Attendance</a:t>
            </a:r>
          </a:p>
        </p:txBody>
      </p:sp>
      <p:sp>
        <p:nvSpPr>
          <p:cNvPr id="14" name="TextBox 13"/>
          <p:cNvSpPr txBox="1"/>
          <p:nvPr/>
        </p:nvSpPr>
        <p:spPr>
          <a:xfrm>
            <a:off x="6556248" y="1801368"/>
            <a:ext cx="2212848" cy="1170432"/>
          </a:xfrm>
          <a:prstGeom prst="rect">
            <a:avLst/>
          </a:prstGeom>
          <a:noFill/>
        </p:spPr>
        <p:txBody>
          <a:bodyPr wrap="none">
            <a:spAutoFit/>
          </a:bodyPr>
          <a:lstStyle/>
          <a:p>
            <a:pPr>
              <a:defRPr sz="1200">
                <a:solidFill>
                  <a:srgbClr val="5A6470"/>
                </a:solidFill>
                <a:latin typeface="Aptos"/>
              </a:defRPr>
            </a:pPr>
            <a:r>
              <a:t>Below 75% warning</a:t>
            </a:r>
          </a:p>
        </p:txBody>
      </p:sp>
      <p:sp>
        <p:nvSpPr>
          <p:cNvPr id="15" name="Rounded Rectangle 14"/>
          <p:cNvSpPr/>
          <p:nvPr/>
        </p:nvSpPr>
        <p:spPr>
          <a:xfrm>
            <a:off x="9235440" y="123444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234440"/>
            <a:ext cx="73152" cy="1828800"/>
          </a:xfrm>
          <a:prstGeom prst="rect">
            <a:avLst/>
          </a:prstGeom>
          <a:solidFill>
            <a:srgbClr val="B4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36608" y="1353312"/>
            <a:ext cx="2240279" cy="365760"/>
          </a:xfrm>
          <a:prstGeom prst="rect">
            <a:avLst/>
          </a:prstGeom>
          <a:noFill/>
        </p:spPr>
        <p:txBody>
          <a:bodyPr wrap="none">
            <a:spAutoFit/>
          </a:bodyPr>
          <a:lstStyle/>
          <a:p>
            <a:pPr>
              <a:defRPr sz="1500" b="1">
                <a:solidFill>
                  <a:srgbClr val="192D48"/>
                </a:solidFill>
                <a:latin typeface="Aptos"/>
              </a:defRPr>
            </a:pPr>
            <a:r>
              <a:t>Exam Analysis</a:t>
            </a:r>
          </a:p>
        </p:txBody>
      </p:sp>
      <p:sp>
        <p:nvSpPr>
          <p:cNvPr id="18" name="TextBox 17"/>
          <p:cNvSpPr txBox="1"/>
          <p:nvPr/>
        </p:nvSpPr>
        <p:spPr>
          <a:xfrm>
            <a:off x="9436608" y="1801368"/>
            <a:ext cx="2212848" cy="1170432"/>
          </a:xfrm>
          <a:prstGeom prst="rect">
            <a:avLst/>
          </a:prstGeom>
          <a:noFill/>
        </p:spPr>
        <p:txBody>
          <a:bodyPr wrap="none">
            <a:spAutoFit/>
          </a:bodyPr>
          <a:lstStyle/>
          <a:p>
            <a:pPr>
              <a:defRPr sz="1200">
                <a:solidFill>
                  <a:srgbClr val="5A6470"/>
                </a:solidFill>
                <a:latin typeface="Aptos"/>
              </a:defRPr>
            </a:pPr>
            <a:r>
              <a:t>Remaining days</a:t>
            </a:r>
          </a:p>
        </p:txBody>
      </p:sp>
      <p:sp>
        <p:nvSpPr>
          <p:cNvPr id="19" name="Rounded Rectangle 18"/>
          <p:cNvSpPr/>
          <p:nvPr/>
        </p:nvSpPr>
        <p:spPr>
          <a:xfrm>
            <a:off x="594360" y="347472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 y="3474720"/>
            <a:ext cx="73152" cy="18288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8" y="3593592"/>
            <a:ext cx="2240279" cy="365760"/>
          </a:xfrm>
          <a:prstGeom prst="rect">
            <a:avLst/>
          </a:prstGeom>
          <a:noFill/>
        </p:spPr>
        <p:txBody>
          <a:bodyPr wrap="none">
            <a:spAutoFit/>
          </a:bodyPr>
          <a:lstStyle/>
          <a:p>
            <a:pPr>
              <a:defRPr sz="1500" b="1">
                <a:solidFill>
                  <a:srgbClr val="192D48"/>
                </a:solidFill>
                <a:latin typeface="Aptos"/>
              </a:defRPr>
            </a:pPr>
            <a:r>
              <a:t>Recommendation</a:t>
            </a:r>
          </a:p>
        </p:txBody>
      </p:sp>
      <p:sp>
        <p:nvSpPr>
          <p:cNvPr id="22" name="TextBox 21"/>
          <p:cNvSpPr txBox="1"/>
          <p:nvPr/>
        </p:nvSpPr>
        <p:spPr>
          <a:xfrm>
            <a:off x="795528" y="4041648"/>
            <a:ext cx="2212848" cy="1170432"/>
          </a:xfrm>
          <a:prstGeom prst="rect">
            <a:avLst/>
          </a:prstGeom>
          <a:noFill/>
        </p:spPr>
        <p:txBody>
          <a:bodyPr wrap="none">
            <a:spAutoFit/>
          </a:bodyPr>
          <a:lstStyle/>
          <a:p>
            <a:pPr>
              <a:defRPr sz="1200">
                <a:solidFill>
                  <a:srgbClr val="5A6470"/>
                </a:solidFill>
                <a:latin typeface="Aptos"/>
              </a:defRPr>
            </a:pPr>
            <a:r>
              <a:t>Priority and reason</a:t>
            </a:r>
          </a:p>
        </p:txBody>
      </p:sp>
      <p:sp>
        <p:nvSpPr>
          <p:cNvPr id="23" name="Rounded Rectangle 22"/>
          <p:cNvSpPr/>
          <p:nvPr/>
        </p:nvSpPr>
        <p:spPr>
          <a:xfrm>
            <a:off x="3474720" y="347472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74720" y="3474720"/>
            <a:ext cx="73152" cy="182880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75887" y="3593592"/>
            <a:ext cx="2240279" cy="365760"/>
          </a:xfrm>
          <a:prstGeom prst="rect">
            <a:avLst/>
          </a:prstGeom>
          <a:noFill/>
        </p:spPr>
        <p:txBody>
          <a:bodyPr wrap="none">
            <a:spAutoFit/>
          </a:bodyPr>
          <a:lstStyle/>
          <a:p>
            <a:pPr>
              <a:defRPr sz="1500" b="1">
                <a:solidFill>
                  <a:srgbClr val="192D48"/>
                </a:solidFill>
                <a:latin typeface="Aptos"/>
              </a:defRPr>
            </a:pPr>
            <a:r>
              <a:t>Study Planner</a:t>
            </a:r>
          </a:p>
        </p:txBody>
      </p:sp>
      <p:sp>
        <p:nvSpPr>
          <p:cNvPr id="26" name="TextBox 25"/>
          <p:cNvSpPr txBox="1"/>
          <p:nvPr/>
        </p:nvSpPr>
        <p:spPr>
          <a:xfrm>
            <a:off x="3675887" y="4041648"/>
            <a:ext cx="2212848" cy="1170432"/>
          </a:xfrm>
          <a:prstGeom prst="rect">
            <a:avLst/>
          </a:prstGeom>
          <a:noFill/>
        </p:spPr>
        <p:txBody>
          <a:bodyPr wrap="none">
            <a:spAutoFit/>
          </a:bodyPr>
          <a:lstStyle/>
          <a:p>
            <a:pPr>
              <a:defRPr sz="1200">
                <a:solidFill>
                  <a:srgbClr val="5A6470"/>
                </a:solidFill>
                <a:latin typeface="Aptos"/>
              </a:defRPr>
            </a:pPr>
            <a:r>
              <a:t>3 / 2 / 1.5 / 1 hours</a:t>
            </a:r>
          </a:p>
        </p:txBody>
      </p:sp>
      <p:sp>
        <p:nvSpPr>
          <p:cNvPr id="27" name="Rounded Rectangle 26"/>
          <p:cNvSpPr/>
          <p:nvPr/>
        </p:nvSpPr>
        <p:spPr>
          <a:xfrm>
            <a:off x="6355080" y="347472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55080" y="3474720"/>
            <a:ext cx="73152" cy="182880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56248" y="3593592"/>
            <a:ext cx="2240279" cy="365760"/>
          </a:xfrm>
          <a:prstGeom prst="rect">
            <a:avLst/>
          </a:prstGeom>
          <a:noFill/>
        </p:spPr>
        <p:txBody>
          <a:bodyPr wrap="none">
            <a:spAutoFit/>
          </a:bodyPr>
          <a:lstStyle/>
          <a:p>
            <a:pPr>
              <a:defRPr sz="1500" b="1">
                <a:solidFill>
                  <a:srgbClr val="192D48"/>
                </a:solidFill>
                <a:latin typeface="Aptos"/>
              </a:defRPr>
            </a:pPr>
            <a:r>
              <a:t>Progress</a:t>
            </a:r>
          </a:p>
        </p:txBody>
      </p:sp>
      <p:sp>
        <p:nvSpPr>
          <p:cNvPr id="30" name="TextBox 29"/>
          <p:cNvSpPr txBox="1"/>
          <p:nvPr/>
        </p:nvSpPr>
        <p:spPr>
          <a:xfrm>
            <a:off x="6556248" y="4041648"/>
            <a:ext cx="2212848" cy="1170432"/>
          </a:xfrm>
          <a:prstGeom prst="rect">
            <a:avLst/>
          </a:prstGeom>
          <a:noFill/>
        </p:spPr>
        <p:txBody>
          <a:bodyPr wrap="none">
            <a:spAutoFit/>
          </a:bodyPr>
          <a:lstStyle/>
          <a:p>
            <a:pPr>
              <a:defRPr sz="1200">
                <a:solidFill>
                  <a:srgbClr val="5A6470"/>
                </a:solidFill>
                <a:latin typeface="Aptos"/>
              </a:defRPr>
            </a:pPr>
            <a:r>
              <a:t>Topic completion</a:t>
            </a:r>
          </a:p>
        </p:txBody>
      </p:sp>
      <p:sp>
        <p:nvSpPr>
          <p:cNvPr id="31" name="Rounded Rectangle 30"/>
          <p:cNvSpPr/>
          <p:nvPr/>
        </p:nvSpPr>
        <p:spPr>
          <a:xfrm>
            <a:off x="9235440" y="3474720"/>
            <a:ext cx="256032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35440" y="3474720"/>
            <a:ext cx="73152" cy="1828800"/>
          </a:xfrm>
          <a:prstGeom prst="rect">
            <a:avLst/>
          </a:prstGeom>
          <a:solidFill>
            <a:srgbClr val="B4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436608" y="3593592"/>
            <a:ext cx="2240279" cy="365760"/>
          </a:xfrm>
          <a:prstGeom prst="rect">
            <a:avLst/>
          </a:prstGeom>
          <a:noFill/>
        </p:spPr>
        <p:txBody>
          <a:bodyPr wrap="none">
            <a:spAutoFit/>
          </a:bodyPr>
          <a:lstStyle/>
          <a:p>
            <a:pPr>
              <a:defRPr sz="1500" b="1">
                <a:solidFill>
                  <a:srgbClr val="192D48"/>
                </a:solidFill>
                <a:latin typeface="Aptos"/>
              </a:defRPr>
            </a:pPr>
            <a:r>
              <a:t>Database</a:t>
            </a:r>
          </a:p>
        </p:txBody>
      </p:sp>
      <p:sp>
        <p:nvSpPr>
          <p:cNvPr id="34" name="TextBox 33"/>
          <p:cNvSpPr txBox="1"/>
          <p:nvPr/>
        </p:nvSpPr>
        <p:spPr>
          <a:xfrm>
            <a:off x="9436608" y="4041648"/>
            <a:ext cx="2212848" cy="1170432"/>
          </a:xfrm>
          <a:prstGeom prst="rect">
            <a:avLst/>
          </a:prstGeom>
          <a:noFill/>
        </p:spPr>
        <p:txBody>
          <a:bodyPr wrap="none">
            <a:spAutoFit/>
          </a:bodyPr>
          <a:lstStyle/>
          <a:p>
            <a:pPr>
              <a:defRPr sz="1200">
                <a:solidFill>
                  <a:srgbClr val="5A6470"/>
                </a:solidFill>
                <a:latin typeface="Aptos"/>
              </a:defRPr>
            </a:pPr>
            <a:r>
              <a:t>SQLite storage</a:t>
            </a:r>
          </a:p>
        </p:txBody>
      </p:sp>
      <p:sp>
        <p:nvSpPr>
          <p:cNvPr id="35" name="Rectangle 34"/>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37" name="TextBox 36"/>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4. System Architecture</a:t>
            </a:r>
          </a:p>
        </p:txBody>
      </p:sp>
      <p:sp>
        <p:nvSpPr>
          <p:cNvPr id="3" name="TextBox 2"/>
          <p:cNvSpPr txBox="1"/>
          <p:nvPr/>
        </p:nvSpPr>
        <p:spPr>
          <a:xfrm>
            <a:off x="621792" y="841248"/>
            <a:ext cx="10789920" cy="320040"/>
          </a:xfrm>
          <a:prstGeom prst="rect">
            <a:avLst/>
          </a:prstGeom>
          <a:noFill/>
        </p:spPr>
        <p:txBody>
          <a:bodyPr wrap="none">
            <a:spAutoFit/>
          </a:bodyPr>
          <a:lstStyle/>
          <a:p>
            <a:pPr>
              <a:defRPr sz="1150">
                <a:solidFill>
                  <a:srgbClr val="5A6470"/>
                </a:solidFill>
                <a:latin typeface="Aptos"/>
              </a:defRPr>
            </a:pPr>
            <a:r>
              <a:t>Simple modular structure</a:t>
            </a:r>
          </a:p>
        </p:txBody>
      </p:sp>
      <p:sp>
        <p:nvSpPr>
          <p:cNvPr id="4" name="Rounded Rectangle 3"/>
          <p:cNvSpPr/>
          <p:nvPr/>
        </p:nvSpPr>
        <p:spPr>
          <a:xfrm>
            <a:off x="731520" y="1325880"/>
            <a:ext cx="2103120" cy="731520"/>
          </a:xfrm>
          <a:prstGeom prst="roundRect">
            <a:avLst/>
          </a:prstGeom>
          <a:solidFill>
            <a:srgbClr val="FAEEDE"/>
          </a:solidFill>
          <a:ln w="1905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 y="1380744"/>
            <a:ext cx="1956815" cy="621792"/>
          </a:xfrm>
          <a:prstGeom prst="rect">
            <a:avLst/>
          </a:prstGeom>
          <a:noFill/>
        </p:spPr>
        <p:txBody>
          <a:bodyPr wrap="none" anchor="ctr">
            <a:spAutoFit/>
          </a:bodyPr>
          <a:lstStyle/>
          <a:p>
            <a:pPr algn="ctr">
              <a:defRPr sz="1500" b="1">
                <a:solidFill>
                  <a:srgbClr val="192D48"/>
                </a:solidFill>
                <a:latin typeface="Aptos"/>
              </a:defRPr>
            </a:pPr>
            <a:r>
              <a:t>Student / User</a:t>
            </a:r>
          </a:p>
        </p:txBody>
      </p:sp>
      <p:sp>
        <p:nvSpPr>
          <p:cNvPr id="6" name="Rounded Rectangle 5"/>
          <p:cNvSpPr/>
          <p:nvPr/>
        </p:nvSpPr>
        <p:spPr>
          <a:xfrm>
            <a:off x="3657600" y="1325880"/>
            <a:ext cx="2103120" cy="73152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30752" y="1380744"/>
            <a:ext cx="1956815" cy="621792"/>
          </a:xfrm>
          <a:prstGeom prst="rect">
            <a:avLst/>
          </a:prstGeom>
          <a:noFill/>
        </p:spPr>
        <p:txBody>
          <a:bodyPr wrap="none" anchor="ctr">
            <a:spAutoFit/>
          </a:bodyPr>
          <a:lstStyle/>
          <a:p>
            <a:pPr algn="ctr">
              <a:defRPr sz="1600" b="1">
                <a:solidFill>
                  <a:srgbClr val="192D48"/>
                </a:solidFill>
                <a:latin typeface="Aptos"/>
              </a:defRPr>
            </a:pPr>
            <a:r>
              <a:t>app.py</a:t>
            </a:r>
          </a:p>
        </p:txBody>
      </p:sp>
      <p:sp>
        <p:nvSpPr>
          <p:cNvPr id="8" name="Rounded Rectangle 7"/>
          <p:cNvSpPr/>
          <p:nvPr/>
        </p:nvSpPr>
        <p:spPr>
          <a:xfrm>
            <a:off x="7315200" y="1051560"/>
            <a:ext cx="2560320" cy="594360"/>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88352" y="1106424"/>
            <a:ext cx="2414015" cy="484632"/>
          </a:xfrm>
          <a:prstGeom prst="rect">
            <a:avLst/>
          </a:prstGeom>
          <a:noFill/>
        </p:spPr>
        <p:txBody>
          <a:bodyPr wrap="none" anchor="ctr">
            <a:spAutoFit/>
          </a:bodyPr>
          <a:lstStyle/>
          <a:p>
            <a:pPr algn="ctr">
              <a:defRPr sz="1200" b="1">
                <a:solidFill>
                  <a:srgbClr val="192D48"/>
                </a:solidFill>
                <a:latin typeface="Aptos"/>
              </a:defRPr>
            </a:pPr>
            <a:r>
              <a:t>Performance Analyzer</a:t>
            </a:r>
          </a:p>
        </p:txBody>
      </p:sp>
      <p:sp>
        <p:nvSpPr>
          <p:cNvPr id="10" name="Rounded Rectangle 9"/>
          <p:cNvSpPr/>
          <p:nvPr/>
        </p:nvSpPr>
        <p:spPr>
          <a:xfrm>
            <a:off x="7315200" y="1828800"/>
            <a:ext cx="2560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88352" y="1883664"/>
            <a:ext cx="2414015" cy="484632"/>
          </a:xfrm>
          <a:prstGeom prst="rect">
            <a:avLst/>
          </a:prstGeom>
          <a:noFill/>
        </p:spPr>
        <p:txBody>
          <a:bodyPr wrap="none" anchor="ctr">
            <a:spAutoFit/>
          </a:bodyPr>
          <a:lstStyle/>
          <a:p>
            <a:pPr algn="ctr">
              <a:defRPr sz="1200" b="1">
                <a:solidFill>
                  <a:srgbClr val="192D48"/>
                </a:solidFill>
                <a:latin typeface="Aptos"/>
              </a:defRPr>
            </a:pPr>
            <a:r>
              <a:t>Recommendation Engine</a:t>
            </a:r>
          </a:p>
        </p:txBody>
      </p:sp>
      <p:sp>
        <p:nvSpPr>
          <p:cNvPr id="12" name="Rounded Rectangle 11"/>
          <p:cNvSpPr/>
          <p:nvPr/>
        </p:nvSpPr>
        <p:spPr>
          <a:xfrm>
            <a:off x="7315200" y="2606040"/>
            <a:ext cx="2560320" cy="594360"/>
          </a:xfrm>
          <a:prstGeom prst="roundRect">
            <a:avLst/>
          </a:prstGeom>
          <a:solidFill>
            <a:srgbClr val="FAEEDE"/>
          </a:solidFill>
          <a:ln w="1905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88352" y="2660904"/>
            <a:ext cx="2414015" cy="484632"/>
          </a:xfrm>
          <a:prstGeom prst="rect">
            <a:avLst/>
          </a:prstGeom>
          <a:noFill/>
        </p:spPr>
        <p:txBody>
          <a:bodyPr wrap="none" anchor="ctr">
            <a:spAutoFit/>
          </a:bodyPr>
          <a:lstStyle/>
          <a:p>
            <a:pPr algn="ctr">
              <a:defRPr sz="1200" b="1">
                <a:solidFill>
                  <a:srgbClr val="192D48"/>
                </a:solidFill>
                <a:latin typeface="Aptos"/>
              </a:defRPr>
            </a:pPr>
            <a:r>
              <a:t>Study Planner</a:t>
            </a:r>
          </a:p>
        </p:txBody>
      </p:sp>
      <p:sp>
        <p:nvSpPr>
          <p:cNvPr id="14" name="Rounded Rectangle 13"/>
          <p:cNvSpPr/>
          <p:nvPr/>
        </p:nvSpPr>
        <p:spPr>
          <a:xfrm>
            <a:off x="7315200" y="3383280"/>
            <a:ext cx="2560320" cy="594360"/>
          </a:xfrm>
          <a:prstGeom prst="roundRect">
            <a:avLst/>
          </a:prstGeom>
          <a:solidFill>
            <a:srgbClr val="F9E5E5"/>
          </a:solidFill>
          <a:ln w="19050">
            <a:solidFill>
              <a:srgbClr val="B4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88352" y="3438144"/>
            <a:ext cx="2414015" cy="484632"/>
          </a:xfrm>
          <a:prstGeom prst="rect">
            <a:avLst/>
          </a:prstGeom>
          <a:noFill/>
        </p:spPr>
        <p:txBody>
          <a:bodyPr wrap="none" anchor="ctr">
            <a:spAutoFit/>
          </a:bodyPr>
          <a:lstStyle/>
          <a:p>
            <a:pPr algn="ctr">
              <a:defRPr sz="1200" b="1">
                <a:solidFill>
                  <a:srgbClr val="192D48"/>
                </a:solidFill>
                <a:latin typeface="Aptos"/>
              </a:defRPr>
            </a:pPr>
            <a:r>
              <a:t>Database Module</a:t>
            </a:r>
          </a:p>
        </p:txBody>
      </p:sp>
      <p:sp>
        <p:nvSpPr>
          <p:cNvPr id="16" name="Rounded Rectangle 15"/>
          <p:cNvSpPr/>
          <p:nvPr/>
        </p:nvSpPr>
        <p:spPr>
          <a:xfrm>
            <a:off x="3657600" y="4754880"/>
            <a:ext cx="2103120" cy="731520"/>
          </a:xfrm>
          <a:prstGeom prst="roundRect">
            <a:avLst/>
          </a:prstGeom>
          <a:solidFill>
            <a:srgbClr val="EBEEF2"/>
          </a:solidFill>
          <a:ln w="19050">
            <a:solidFill>
              <a:srgbClr val="5A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30752" y="4809744"/>
            <a:ext cx="1956815" cy="621792"/>
          </a:xfrm>
          <a:prstGeom prst="rect">
            <a:avLst/>
          </a:prstGeom>
          <a:noFill/>
        </p:spPr>
        <p:txBody>
          <a:bodyPr wrap="none" anchor="ctr">
            <a:spAutoFit/>
          </a:bodyPr>
          <a:lstStyle/>
          <a:p>
            <a:pPr algn="ctr">
              <a:defRPr sz="1500" b="1">
                <a:solidFill>
                  <a:srgbClr val="192D48"/>
                </a:solidFill>
                <a:latin typeface="Aptos"/>
              </a:defRPr>
            </a:pPr>
            <a:r>
              <a:t>SQLite Database</a:t>
            </a:r>
          </a:p>
        </p:txBody>
      </p:sp>
      <p:cxnSp>
        <p:nvCxnSpPr>
          <p:cNvPr id="18" name="Connector 17"/>
          <p:cNvCxnSpPr/>
          <p:nvPr/>
        </p:nvCxnSpPr>
        <p:spPr>
          <a:xfrm>
            <a:off x="2834640" y="1691640"/>
            <a:ext cx="8229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760720" y="1353312"/>
            <a:ext cx="1554480" cy="338328"/>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60720" y="1691640"/>
            <a:ext cx="1554480" cy="438912"/>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60720" y="1691640"/>
            <a:ext cx="1554480" cy="1216152"/>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60720" y="1691640"/>
            <a:ext cx="1554480" cy="1993392"/>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709160" y="3977639"/>
            <a:ext cx="3886200" cy="777241"/>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6" name="TextBox 25"/>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5. System Flowchart</a:t>
            </a:r>
          </a:p>
        </p:txBody>
      </p:sp>
      <p:sp>
        <p:nvSpPr>
          <p:cNvPr id="3" name="Rounded Rectangle 2"/>
          <p:cNvSpPr/>
          <p:nvPr/>
        </p:nvSpPr>
        <p:spPr>
          <a:xfrm>
            <a:off x="411480"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1380744"/>
            <a:ext cx="1453896" cy="640080"/>
          </a:xfrm>
          <a:prstGeom prst="rect">
            <a:avLst/>
          </a:prstGeom>
          <a:noFill/>
        </p:spPr>
        <p:txBody>
          <a:bodyPr wrap="none" anchor="ctr">
            <a:spAutoFit/>
          </a:bodyPr>
          <a:lstStyle/>
          <a:p>
            <a:pPr algn="ctr">
              <a:defRPr sz="1050" b="1">
                <a:solidFill>
                  <a:srgbClr val="192D48"/>
                </a:solidFill>
                <a:latin typeface="Aptos"/>
              </a:defRPr>
            </a:pPr>
            <a:r>
              <a:t>Start</a:t>
            </a:r>
          </a:p>
        </p:txBody>
      </p:sp>
      <p:sp>
        <p:nvSpPr>
          <p:cNvPr id="5" name="Rounded Rectangle 4"/>
          <p:cNvSpPr/>
          <p:nvPr/>
        </p:nvSpPr>
        <p:spPr>
          <a:xfrm>
            <a:off x="2377440"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50592" y="1380744"/>
            <a:ext cx="1453896" cy="640080"/>
          </a:xfrm>
          <a:prstGeom prst="rect">
            <a:avLst/>
          </a:prstGeom>
          <a:noFill/>
        </p:spPr>
        <p:txBody>
          <a:bodyPr wrap="none" anchor="ctr">
            <a:spAutoFit/>
          </a:bodyPr>
          <a:lstStyle/>
          <a:p>
            <a:pPr algn="ctr">
              <a:defRPr sz="1050" b="1">
                <a:solidFill>
                  <a:srgbClr val="192D48"/>
                </a:solidFill>
                <a:latin typeface="Aptos"/>
              </a:defRPr>
            </a:pPr>
            <a:r>
              <a:t>Student Details</a:t>
            </a:r>
          </a:p>
        </p:txBody>
      </p:sp>
      <p:sp>
        <p:nvSpPr>
          <p:cNvPr id="7" name="Rounded Rectangle 6"/>
          <p:cNvSpPr/>
          <p:nvPr/>
        </p:nvSpPr>
        <p:spPr>
          <a:xfrm>
            <a:off x="4343400"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16552" y="1380744"/>
            <a:ext cx="1453896" cy="640080"/>
          </a:xfrm>
          <a:prstGeom prst="rect">
            <a:avLst/>
          </a:prstGeom>
          <a:noFill/>
        </p:spPr>
        <p:txBody>
          <a:bodyPr wrap="none" anchor="ctr">
            <a:spAutoFit/>
          </a:bodyPr>
          <a:lstStyle/>
          <a:p>
            <a:pPr algn="ctr">
              <a:defRPr sz="1050" b="1">
                <a:solidFill>
                  <a:srgbClr val="192D48"/>
                </a:solidFill>
                <a:latin typeface="Aptos"/>
              </a:defRPr>
            </a:pPr>
            <a:r>
              <a:t>4 Subjects</a:t>
            </a:r>
            <a:br/>
            <a:r>
              <a:t>+ Marks</a:t>
            </a:r>
          </a:p>
        </p:txBody>
      </p:sp>
      <p:sp>
        <p:nvSpPr>
          <p:cNvPr id="9" name="Rounded Rectangle 8"/>
          <p:cNvSpPr/>
          <p:nvPr/>
        </p:nvSpPr>
        <p:spPr>
          <a:xfrm>
            <a:off x="6309359"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380744"/>
            <a:ext cx="1453896" cy="640080"/>
          </a:xfrm>
          <a:prstGeom prst="rect">
            <a:avLst/>
          </a:prstGeom>
          <a:noFill/>
        </p:spPr>
        <p:txBody>
          <a:bodyPr wrap="none" anchor="ctr">
            <a:spAutoFit/>
          </a:bodyPr>
          <a:lstStyle/>
          <a:p>
            <a:pPr algn="ctr">
              <a:defRPr sz="1050" b="1">
                <a:solidFill>
                  <a:srgbClr val="192D48"/>
                </a:solidFill>
                <a:latin typeface="Aptos"/>
              </a:defRPr>
            </a:pPr>
            <a:r>
              <a:t>Attendance</a:t>
            </a:r>
          </a:p>
        </p:txBody>
      </p:sp>
      <p:sp>
        <p:nvSpPr>
          <p:cNvPr id="11" name="Rounded Rectangle 10"/>
          <p:cNvSpPr/>
          <p:nvPr/>
        </p:nvSpPr>
        <p:spPr>
          <a:xfrm>
            <a:off x="8275319"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48471" y="1380744"/>
            <a:ext cx="1453896" cy="640080"/>
          </a:xfrm>
          <a:prstGeom prst="rect">
            <a:avLst/>
          </a:prstGeom>
          <a:noFill/>
        </p:spPr>
        <p:txBody>
          <a:bodyPr wrap="none" anchor="ctr">
            <a:spAutoFit/>
          </a:bodyPr>
          <a:lstStyle/>
          <a:p>
            <a:pPr algn="ctr">
              <a:defRPr sz="1050" b="1">
                <a:solidFill>
                  <a:srgbClr val="192D48"/>
                </a:solidFill>
                <a:latin typeface="Aptos"/>
              </a:defRPr>
            </a:pPr>
            <a:r>
              <a:t>Exam Dates</a:t>
            </a:r>
          </a:p>
        </p:txBody>
      </p:sp>
      <p:sp>
        <p:nvSpPr>
          <p:cNvPr id="13" name="Rounded Rectangle 12"/>
          <p:cNvSpPr/>
          <p:nvPr/>
        </p:nvSpPr>
        <p:spPr>
          <a:xfrm>
            <a:off x="10241280" y="132588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14432" y="1380744"/>
            <a:ext cx="1453896" cy="640080"/>
          </a:xfrm>
          <a:prstGeom prst="rect">
            <a:avLst/>
          </a:prstGeom>
          <a:noFill/>
        </p:spPr>
        <p:txBody>
          <a:bodyPr wrap="none" anchor="ctr">
            <a:spAutoFit/>
          </a:bodyPr>
          <a:lstStyle/>
          <a:p>
            <a:pPr algn="ctr">
              <a:defRPr sz="1050" b="1">
                <a:solidFill>
                  <a:srgbClr val="192D48"/>
                </a:solidFill>
                <a:latin typeface="Aptos"/>
              </a:defRPr>
            </a:pPr>
            <a:r>
              <a:t>Performance</a:t>
            </a:r>
            <a:br/>
            <a:r>
              <a:t>Analysis</a:t>
            </a:r>
          </a:p>
        </p:txBody>
      </p:sp>
      <p:sp>
        <p:nvSpPr>
          <p:cNvPr id="15" name="Rounded Rectangle 14"/>
          <p:cNvSpPr/>
          <p:nvPr/>
        </p:nvSpPr>
        <p:spPr>
          <a:xfrm>
            <a:off x="685800" y="3794760"/>
            <a:ext cx="1600200" cy="749808"/>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3849624"/>
            <a:ext cx="1453896" cy="640080"/>
          </a:xfrm>
          <a:prstGeom prst="rect">
            <a:avLst/>
          </a:prstGeom>
          <a:noFill/>
        </p:spPr>
        <p:txBody>
          <a:bodyPr wrap="none" anchor="ctr">
            <a:spAutoFit/>
          </a:bodyPr>
          <a:lstStyle/>
          <a:p>
            <a:pPr algn="ctr">
              <a:defRPr sz="1050" b="1">
                <a:solidFill>
                  <a:srgbClr val="192D48"/>
                </a:solidFill>
                <a:latin typeface="Aptos"/>
              </a:defRPr>
            </a:pPr>
            <a:r>
              <a:t>Recommendation</a:t>
            </a:r>
          </a:p>
        </p:txBody>
      </p:sp>
      <p:sp>
        <p:nvSpPr>
          <p:cNvPr id="17" name="Rounded Rectangle 16"/>
          <p:cNvSpPr/>
          <p:nvPr/>
        </p:nvSpPr>
        <p:spPr>
          <a:xfrm>
            <a:off x="2514600" y="3794760"/>
            <a:ext cx="1600200" cy="749808"/>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87752" y="3849624"/>
            <a:ext cx="1453896" cy="640080"/>
          </a:xfrm>
          <a:prstGeom prst="rect">
            <a:avLst/>
          </a:prstGeom>
          <a:noFill/>
        </p:spPr>
        <p:txBody>
          <a:bodyPr wrap="none" anchor="ctr">
            <a:spAutoFit/>
          </a:bodyPr>
          <a:lstStyle/>
          <a:p>
            <a:pPr algn="ctr">
              <a:defRPr sz="1050" b="1">
                <a:solidFill>
                  <a:srgbClr val="192D48"/>
                </a:solidFill>
                <a:latin typeface="Aptos"/>
              </a:defRPr>
            </a:pPr>
            <a:r>
              <a:t>Study Plan</a:t>
            </a:r>
          </a:p>
        </p:txBody>
      </p:sp>
      <p:sp>
        <p:nvSpPr>
          <p:cNvPr id="19" name="Rounded Rectangle 18"/>
          <p:cNvSpPr/>
          <p:nvPr/>
        </p:nvSpPr>
        <p:spPr>
          <a:xfrm>
            <a:off x="4343400" y="3794760"/>
            <a:ext cx="1600200" cy="749808"/>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16552" y="3849624"/>
            <a:ext cx="1453896" cy="640080"/>
          </a:xfrm>
          <a:prstGeom prst="rect">
            <a:avLst/>
          </a:prstGeom>
          <a:noFill/>
        </p:spPr>
        <p:txBody>
          <a:bodyPr wrap="none" anchor="ctr">
            <a:spAutoFit/>
          </a:bodyPr>
          <a:lstStyle/>
          <a:p>
            <a:pPr algn="ctr">
              <a:defRPr sz="1050" b="1">
                <a:solidFill>
                  <a:srgbClr val="192D48"/>
                </a:solidFill>
                <a:latin typeface="Aptos"/>
              </a:defRPr>
            </a:pPr>
            <a:r>
              <a:t>Progress</a:t>
            </a:r>
          </a:p>
        </p:txBody>
      </p:sp>
      <p:sp>
        <p:nvSpPr>
          <p:cNvPr id="21" name="Rounded Rectangle 20"/>
          <p:cNvSpPr/>
          <p:nvPr/>
        </p:nvSpPr>
        <p:spPr>
          <a:xfrm>
            <a:off x="6172200" y="379476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3849624"/>
            <a:ext cx="1453896" cy="640080"/>
          </a:xfrm>
          <a:prstGeom prst="rect">
            <a:avLst/>
          </a:prstGeom>
          <a:noFill/>
        </p:spPr>
        <p:txBody>
          <a:bodyPr wrap="none" anchor="ctr">
            <a:spAutoFit/>
          </a:bodyPr>
          <a:lstStyle/>
          <a:p>
            <a:pPr algn="ctr">
              <a:defRPr sz="1050" b="1">
                <a:solidFill>
                  <a:srgbClr val="192D48"/>
                </a:solidFill>
                <a:latin typeface="Aptos"/>
              </a:defRPr>
            </a:pPr>
            <a:r>
              <a:t>Save Data</a:t>
            </a:r>
          </a:p>
        </p:txBody>
      </p:sp>
      <p:sp>
        <p:nvSpPr>
          <p:cNvPr id="23" name="Rounded Rectangle 22"/>
          <p:cNvSpPr/>
          <p:nvPr/>
        </p:nvSpPr>
        <p:spPr>
          <a:xfrm>
            <a:off x="8001000" y="379476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74152" y="3849624"/>
            <a:ext cx="1453896" cy="640080"/>
          </a:xfrm>
          <a:prstGeom prst="rect">
            <a:avLst/>
          </a:prstGeom>
          <a:noFill/>
        </p:spPr>
        <p:txBody>
          <a:bodyPr wrap="none" anchor="ctr">
            <a:spAutoFit/>
          </a:bodyPr>
          <a:lstStyle/>
          <a:p>
            <a:pPr algn="ctr">
              <a:defRPr sz="1050" b="1">
                <a:solidFill>
                  <a:srgbClr val="192D48"/>
                </a:solidFill>
                <a:latin typeface="Aptos"/>
              </a:defRPr>
            </a:pPr>
            <a:r>
              <a:t>Final Summary</a:t>
            </a:r>
          </a:p>
        </p:txBody>
      </p:sp>
      <p:sp>
        <p:nvSpPr>
          <p:cNvPr id="25" name="Rounded Rectangle 24"/>
          <p:cNvSpPr/>
          <p:nvPr/>
        </p:nvSpPr>
        <p:spPr>
          <a:xfrm>
            <a:off x="9829800" y="3794760"/>
            <a:ext cx="1600200" cy="749808"/>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02952" y="3849624"/>
            <a:ext cx="1453896" cy="640080"/>
          </a:xfrm>
          <a:prstGeom prst="rect">
            <a:avLst/>
          </a:prstGeom>
          <a:noFill/>
        </p:spPr>
        <p:txBody>
          <a:bodyPr wrap="none" anchor="ctr">
            <a:spAutoFit/>
          </a:bodyPr>
          <a:lstStyle/>
          <a:p>
            <a:pPr algn="ctr">
              <a:defRPr sz="1050" b="1">
                <a:solidFill>
                  <a:srgbClr val="192D48"/>
                </a:solidFill>
                <a:latin typeface="Aptos"/>
              </a:defRPr>
            </a:pPr>
            <a:r>
              <a:t>End</a:t>
            </a:r>
          </a:p>
        </p:txBody>
      </p:sp>
      <p:cxnSp>
        <p:nvCxnSpPr>
          <p:cNvPr id="27" name="Connector 26"/>
          <p:cNvCxnSpPr/>
          <p:nvPr/>
        </p:nvCxnSpPr>
        <p:spPr>
          <a:xfrm>
            <a:off x="2011680" y="1700784"/>
            <a:ext cx="365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977639" y="1700784"/>
            <a:ext cx="365761"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943600" y="1700784"/>
            <a:ext cx="365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09559" y="1700784"/>
            <a:ext cx="365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75520" y="1700784"/>
            <a:ext cx="365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481328" y="2075688"/>
            <a:ext cx="8759952" cy="1719072"/>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86000" y="4169663"/>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14800" y="4169663"/>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943600" y="4169663"/>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772400" y="4169663"/>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01200" y="4169663"/>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40" name="TextBox 39"/>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6. Recommendation Engine</a:t>
            </a:r>
          </a:p>
        </p:txBody>
      </p:sp>
      <p:sp>
        <p:nvSpPr>
          <p:cNvPr id="3" name="Rounded Rectangle 2"/>
          <p:cNvSpPr/>
          <p:nvPr/>
        </p:nvSpPr>
        <p:spPr>
          <a:xfrm>
            <a:off x="594360" y="1234440"/>
            <a:ext cx="2834640" cy="4023360"/>
          </a:xfrm>
          <a:prstGeom prst="roundRect">
            <a:avLst/>
          </a:prstGeom>
          <a:solidFill>
            <a:srgbClr val="E2EEFA"/>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1234440"/>
            <a:ext cx="73152" cy="402336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53312"/>
            <a:ext cx="2514600" cy="365760"/>
          </a:xfrm>
          <a:prstGeom prst="rect">
            <a:avLst/>
          </a:prstGeom>
          <a:noFill/>
        </p:spPr>
        <p:txBody>
          <a:bodyPr wrap="none">
            <a:spAutoFit/>
          </a:bodyPr>
          <a:lstStyle/>
          <a:p>
            <a:pPr>
              <a:defRPr sz="1500" b="1">
                <a:solidFill>
                  <a:srgbClr val="192D48"/>
                </a:solidFill>
                <a:latin typeface="Aptos"/>
              </a:defRPr>
            </a:pPr>
            <a:r>
              <a:t>Inputs</a:t>
            </a:r>
          </a:p>
        </p:txBody>
      </p:sp>
      <p:sp>
        <p:nvSpPr>
          <p:cNvPr id="6" name="TextBox 5"/>
          <p:cNvSpPr txBox="1"/>
          <p:nvPr/>
        </p:nvSpPr>
        <p:spPr>
          <a:xfrm>
            <a:off x="795528" y="1801368"/>
            <a:ext cx="2487168" cy="3364992"/>
          </a:xfrm>
          <a:prstGeom prst="rect">
            <a:avLst/>
          </a:prstGeom>
          <a:noFill/>
        </p:spPr>
        <p:txBody>
          <a:bodyPr wrap="none">
            <a:spAutoFit/>
          </a:bodyPr>
          <a:lstStyle/>
          <a:p>
            <a:pPr>
              <a:defRPr sz="1200">
                <a:solidFill>
                  <a:srgbClr val="5A6470"/>
                </a:solidFill>
                <a:latin typeface="Aptos"/>
              </a:defRPr>
            </a:pPr>
            <a:r>
              <a:t>Marks</a:t>
            </a:r>
            <a:br/>
            <a:r>
              <a:t>Attendance</a:t>
            </a:r>
            <a:br/>
            <a:r>
              <a:t>Days left for exam</a:t>
            </a:r>
          </a:p>
        </p:txBody>
      </p:sp>
      <p:sp>
        <p:nvSpPr>
          <p:cNvPr id="7" name="Rounded Rectangle 6"/>
          <p:cNvSpPr/>
          <p:nvPr/>
        </p:nvSpPr>
        <p:spPr>
          <a:xfrm>
            <a:off x="3977639" y="2240280"/>
            <a:ext cx="2880360" cy="914400"/>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50791" y="2295144"/>
            <a:ext cx="2734056" cy="804672"/>
          </a:xfrm>
          <a:prstGeom prst="rect">
            <a:avLst/>
          </a:prstGeom>
          <a:noFill/>
        </p:spPr>
        <p:txBody>
          <a:bodyPr wrap="none" anchor="ctr">
            <a:spAutoFit/>
          </a:bodyPr>
          <a:lstStyle/>
          <a:p>
            <a:pPr algn="ctr">
              <a:defRPr sz="1600" b="1">
                <a:solidFill>
                  <a:srgbClr val="192D48"/>
                </a:solidFill>
                <a:latin typeface="Aptos"/>
              </a:defRPr>
            </a:pPr>
            <a:r>
              <a:t>Rule-Based Analysis</a:t>
            </a:r>
          </a:p>
        </p:txBody>
      </p:sp>
      <p:sp>
        <p:nvSpPr>
          <p:cNvPr id="9" name="Rounded Rectangle 8"/>
          <p:cNvSpPr/>
          <p:nvPr/>
        </p:nvSpPr>
        <p:spPr>
          <a:xfrm>
            <a:off x="7543800" y="1051560"/>
            <a:ext cx="3749039" cy="1097280"/>
          </a:xfrm>
          <a:prstGeom prst="roundRect">
            <a:avLst/>
          </a:prstGeom>
          <a:solidFill>
            <a:srgbClr val="FAEEDE"/>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43800" y="1051560"/>
            <a:ext cx="73152" cy="109728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44968" y="1170431"/>
            <a:ext cx="3428999" cy="365760"/>
          </a:xfrm>
          <a:prstGeom prst="rect">
            <a:avLst/>
          </a:prstGeom>
          <a:noFill/>
        </p:spPr>
        <p:txBody>
          <a:bodyPr wrap="none">
            <a:spAutoFit/>
          </a:bodyPr>
          <a:lstStyle/>
          <a:p>
            <a:pPr>
              <a:defRPr sz="1500" b="1">
                <a:solidFill>
                  <a:srgbClr val="192D48"/>
                </a:solidFill>
                <a:latin typeface="Aptos"/>
              </a:defRPr>
            </a:pPr>
            <a:r>
              <a:t>Priority</a:t>
            </a:r>
          </a:p>
        </p:txBody>
      </p:sp>
      <p:sp>
        <p:nvSpPr>
          <p:cNvPr id="12" name="TextBox 11"/>
          <p:cNvSpPr txBox="1"/>
          <p:nvPr/>
        </p:nvSpPr>
        <p:spPr>
          <a:xfrm>
            <a:off x="7744968" y="1618488"/>
            <a:ext cx="3401568" cy="438912"/>
          </a:xfrm>
          <a:prstGeom prst="rect">
            <a:avLst/>
          </a:prstGeom>
          <a:noFill/>
        </p:spPr>
        <p:txBody>
          <a:bodyPr wrap="none">
            <a:spAutoFit/>
          </a:bodyPr>
          <a:lstStyle/>
          <a:p>
            <a:pPr>
              <a:defRPr sz="1200">
                <a:solidFill>
                  <a:srgbClr val="5A6470"/>
                </a:solidFill>
                <a:latin typeface="Aptos"/>
              </a:defRPr>
            </a:pPr>
            <a:r>
              <a:t>HIGH / MEDIUM / LOW</a:t>
            </a:r>
          </a:p>
        </p:txBody>
      </p:sp>
      <p:sp>
        <p:nvSpPr>
          <p:cNvPr id="13" name="Rounded Rectangle 12"/>
          <p:cNvSpPr/>
          <p:nvPr/>
        </p:nvSpPr>
        <p:spPr>
          <a:xfrm>
            <a:off x="7543800" y="2468880"/>
            <a:ext cx="3749039" cy="1097280"/>
          </a:xfrm>
          <a:prstGeom prst="roundRect">
            <a:avLst/>
          </a:prstGeom>
          <a:solidFill>
            <a:srgbClr val="E2EEFA"/>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43800" y="2468880"/>
            <a:ext cx="73152" cy="109728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44968" y="2587752"/>
            <a:ext cx="3428999" cy="365760"/>
          </a:xfrm>
          <a:prstGeom prst="rect">
            <a:avLst/>
          </a:prstGeom>
          <a:noFill/>
        </p:spPr>
        <p:txBody>
          <a:bodyPr wrap="none">
            <a:spAutoFit/>
          </a:bodyPr>
          <a:lstStyle/>
          <a:p>
            <a:pPr>
              <a:defRPr sz="1500" b="1">
                <a:solidFill>
                  <a:srgbClr val="192D48"/>
                </a:solidFill>
                <a:latin typeface="Aptos"/>
              </a:defRPr>
            </a:pPr>
            <a:r>
              <a:t>Reason</a:t>
            </a:r>
          </a:p>
        </p:txBody>
      </p:sp>
      <p:sp>
        <p:nvSpPr>
          <p:cNvPr id="16" name="TextBox 15"/>
          <p:cNvSpPr txBox="1"/>
          <p:nvPr/>
        </p:nvSpPr>
        <p:spPr>
          <a:xfrm>
            <a:off x="7744968" y="3035808"/>
            <a:ext cx="3401568" cy="438912"/>
          </a:xfrm>
          <a:prstGeom prst="rect">
            <a:avLst/>
          </a:prstGeom>
          <a:noFill/>
        </p:spPr>
        <p:txBody>
          <a:bodyPr wrap="none">
            <a:spAutoFit/>
          </a:bodyPr>
          <a:lstStyle/>
          <a:p>
            <a:pPr>
              <a:defRPr sz="1200">
                <a:solidFill>
                  <a:srgbClr val="5A6470"/>
                </a:solidFill>
                <a:latin typeface="Aptos"/>
              </a:defRPr>
            </a:pPr>
            <a:r>
              <a:t>Low marks / low attendance / exam near</a:t>
            </a:r>
          </a:p>
        </p:txBody>
      </p:sp>
      <p:sp>
        <p:nvSpPr>
          <p:cNvPr id="17" name="Rounded Rectangle 16"/>
          <p:cNvSpPr/>
          <p:nvPr/>
        </p:nvSpPr>
        <p:spPr>
          <a:xfrm>
            <a:off x="7543800" y="3886200"/>
            <a:ext cx="3749039" cy="1097280"/>
          </a:xfrm>
          <a:prstGeom prst="roundRect">
            <a:avLst/>
          </a:prstGeom>
          <a:solidFill>
            <a:srgbClr val="E5F2E8"/>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43800" y="3886200"/>
            <a:ext cx="73152" cy="109728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44968" y="4005072"/>
            <a:ext cx="3428999" cy="365760"/>
          </a:xfrm>
          <a:prstGeom prst="rect">
            <a:avLst/>
          </a:prstGeom>
          <a:noFill/>
        </p:spPr>
        <p:txBody>
          <a:bodyPr wrap="none">
            <a:spAutoFit/>
          </a:bodyPr>
          <a:lstStyle/>
          <a:p>
            <a:pPr>
              <a:defRPr sz="1500" b="1">
                <a:solidFill>
                  <a:srgbClr val="192D48"/>
                </a:solidFill>
                <a:latin typeface="Aptos"/>
              </a:defRPr>
            </a:pPr>
            <a:r>
              <a:t>Recommendation</a:t>
            </a:r>
          </a:p>
        </p:txBody>
      </p:sp>
      <p:sp>
        <p:nvSpPr>
          <p:cNvPr id="20" name="TextBox 19"/>
          <p:cNvSpPr txBox="1"/>
          <p:nvPr/>
        </p:nvSpPr>
        <p:spPr>
          <a:xfrm>
            <a:off x="7744968" y="4453128"/>
            <a:ext cx="3401568" cy="438912"/>
          </a:xfrm>
          <a:prstGeom prst="rect">
            <a:avLst/>
          </a:prstGeom>
          <a:noFill/>
        </p:spPr>
        <p:txBody>
          <a:bodyPr wrap="none">
            <a:spAutoFit/>
          </a:bodyPr>
          <a:lstStyle/>
          <a:p>
            <a:pPr>
              <a:defRPr sz="1200">
                <a:solidFill>
                  <a:srgbClr val="5A6470"/>
                </a:solidFill>
                <a:latin typeface="Aptos"/>
              </a:defRPr>
            </a:pPr>
            <a:r>
              <a:t>Simple action for the subject</a:t>
            </a:r>
          </a:p>
        </p:txBody>
      </p:sp>
      <p:cxnSp>
        <p:nvCxnSpPr>
          <p:cNvPr id="21" name="Connector 20"/>
          <p:cNvCxnSpPr/>
          <p:nvPr/>
        </p:nvCxnSpPr>
        <p:spPr>
          <a:xfrm flipV="1">
            <a:off x="3429000" y="2697480"/>
            <a:ext cx="548639" cy="54864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858000" y="1600200"/>
            <a:ext cx="685800" cy="109728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58000" y="2697480"/>
            <a:ext cx="685800" cy="32004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858000" y="2697480"/>
            <a:ext cx="685800" cy="173736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7" name="TextBox 26"/>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7. Study Planner</a:t>
            </a:r>
          </a:p>
        </p:txBody>
      </p:sp>
      <p:sp>
        <p:nvSpPr>
          <p:cNvPr id="3" name="Rounded Rectangle 2"/>
          <p:cNvSpPr/>
          <p:nvPr/>
        </p:nvSpPr>
        <p:spPr>
          <a:xfrm>
            <a:off x="594360" y="1234440"/>
            <a:ext cx="3657600" cy="448056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1234440"/>
            <a:ext cx="73152" cy="448056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53312"/>
            <a:ext cx="3337560" cy="365760"/>
          </a:xfrm>
          <a:prstGeom prst="rect">
            <a:avLst/>
          </a:prstGeom>
          <a:noFill/>
        </p:spPr>
        <p:txBody>
          <a:bodyPr wrap="none">
            <a:spAutoFit/>
          </a:bodyPr>
          <a:lstStyle/>
          <a:p>
            <a:pPr>
              <a:defRPr sz="1500" b="1">
                <a:solidFill>
                  <a:srgbClr val="192D48"/>
                </a:solidFill>
                <a:latin typeface="Aptos"/>
              </a:defRPr>
            </a:pPr>
            <a:r>
              <a:t>Study Hour Rules</a:t>
            </a:r>
          </a:p>
        </p:txBody>
      </p:sp>
      <p:sp>
        <p:nvSpPr>
          <p:cNvPr id="6" name="TextBox 5"/>
          <p:cNvSpPr txBox="1"/>
          <p:nvPr/>
        </p:nvSpPr>
        <p:spPr>
          <a:xfrm>
            <a:off x="795528" y="1801368"/>
            <a:ext cx="3310128" cy="3822192"/>
          </a:xfrm>
          <a:prstGeom prst="rect">
            <a:avLst/>
          </a:prstGeom>
          <a:noFill/>
        </p:spPr>
        <p:txBody>
          <a:bodyPr wrap="none">
            <a:spAutoFit/>
          </a:bodyPr>
          <a:lstStyle/>
          <a:p>
            <a:pPr>
              <a:defRPr sz="1200">
                <a:solidFill>
                  <a:srgbClr val="5A6470"/>
                </a:solidFill>
                <a:latin typeface="Aptos"/>
              </a:defRPr>
            </a:pPr>
            <a:r>
              <a:t>Marks below 40  →  3 hours/day</a:t>
            </a:r>
            <a:br/>
            <a:br/>
            <a:r>
              <a:t>Marks 40–49  →  2 hours/day</a:t>
            </a:r>
            <a:br/>
            <a:br/>
            <a:r>
              <a:t>Marks 50–59  →  1.5 hours/day</a:t>
            </a:r>
            <a:br/>
            <a:br/>
            <a:r>
              <a:t>Marks 60+  →  1 hour/day</a:t>
            </a:r>
          </a:p>
        </p:txBody>
      </p:sp>
      <p:sp>
        <p:nvSpPr>
          <p:cNvPr id="7" name="Rounded Rectangle 6"/>
          <p:cNvSpPr/>
          <p:nvPr/>
        </p:nvSpPr>
        <p:spPr>
          <a:xfrm>
            <a:off x="4892040" y="1325880"/>
            <a:ext cx="2103120" cy="73152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65192" y="1380744"/>
            <a:ext cx="1956815" cy="621792"/>
          </a:xfrm>
          <a:prstGeom prst="rect">
            <a:avLst/>
          </a:prstGeom>
          <a:noFill/>
        </p:spPr>
        <p:txBody>
          <a:bodyPr wrap="none" anchor="ctr">
            <a:spAutoFit/>
          </a:bodyPr>
          <a:lstStyle/>
          <a:p>
            <a:pPr algn="ctr">
              <a:defRPr sz="1600" b="1">
                <a:solidFill>
                  <a:srgbClr val="192D48"/>
                </a:solidFill>
                <a:latin typeface="Aptos"/>
              </a:defRPr>
            </a:pPr>
            <a:r>
              <a:t>Marks</a:t>
            </a:r>
          </a:p>
        </p:txBody>
      </p:sp>
      <p:sp>
        <p:nvSpPr>
          <p:cNvPr id="9" name="Rounded Rectangle 8"/>
          <p:cNvSpPr/>
          <p:nvPr/>
        </p:nvSpPr>
        <p:spPr>
          <a:xfrm>
            <a:off x="4892040" y="2743200"/>
            <a:ext cx="2103120" cy="731520"/>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65192" y="2798064"/>
            <a:ext cx="1956815" cy="621792"/>
          </a:xfrm>
          <a:prstGeom prst="rect">
            <a:avLst/>
          </a:prstGeom>
          <a:noFill/>
        </p:spPr>
        <p:txBody>
          <a:bodyPr wrap="none" anchor="ctr">
            <a:spAutoFit/>
          </a:bodyPr>
          <a:lstStyle/>
          <a:p>
            <a:pPr algn="ctr">
              <a:defRPr sz="1500" b="1">
                <a:solidFill>
                  <a:srgbClr val="192D48"/>
                </a:solidFill>
                <a:latin typeface="Aptos"/>
              </a:defRPr>
            </a:pPr>
            <a:r>
              <a:t>Study Hours</a:t>
            </a:r>
          </a:p>
        </p:txBody>
      </p:sp>
      <p:sp>
        <p:nvSpPr>
          <p:cNvPr id="11" name="Rounded Rectangle 10"/>
          <p:cNvSpPr/>
          <p:nvPr/>
        </p:nvSpPr>
        <p:spPr>
          <a:xfrm>
            <a:off x="4892040" y="4160520"/>
            <a:ext cx="2103120" cy="731520"/>
          </a:xfrm>
          <a:prstGeom prst="roundRect">
            <a:avLst/>
          </a:prstGeom>
          <a:solidFill>
            <a:srgbClr val="FAEEDE"/>
          </a:solidFill>
          <a:ln w="1905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65192" y="4215383"/>
            <a:ext cx="1956815" cy="621792"/>
          </a:xfrm>
          <a:prstGeom prst="rect">
            <a:avLst/>
          </a:prstGeom>
          <a:noFill/>
        </p:spPr>
        <p:txBody>
          <a:bodyPr wrap="none" anchor="ctr">
            <a:spAutoFit/>
          </a:bodyPr>
          <a:lstStyle/>
          <a:p>
            <a:pPr algn="ctr">
              <a:defRPr sz="1500" b="1">
                <a:solidFill>
                  <a:srgbClr val="192D48"/>
                </a:solidFill>
                <a:latin typeface="Aptos"/>
              </a:defRPr>
            </a:pPr>
            <a:r>
              <a:t>Daily Task</a:t>
            </a:r>
          </a:p>
        </p:txBody>
      </p:sp>
      <p:cxnSp>
        <p:nvCxnSpPr>
          <p:cNvPr id="13" name="Connector 12"/>
          <p:cNvCxnSpPr/>
          <p:nvPr/>
        </p:nvCxnSpPr>
        <p:spPr>
          <a:xfrm>
            <a:off x="5943600" y="2057400"/>
            <a:ext cx="0" cy="68580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3474720"/>
            <a:ext cx="0" cy="68580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863840" y="1325880"/>
            <a:ext cx="3429000" cy="356616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63840" y="1325880"/>
            <a:ext cx="73152" cy="356616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5008" y="1444752"/>
            <a:ext cx="3108960" cy="365760"/>
          </a:xfrm>
          <a:prstGeom prst="rect">
            <a:avLst/>
          </a:prstGeom>
          <a:noFill/>
        </p:spPr>
        <p:txBody>
          <a:bodyPr wrap="none">
            <a:spAutoFit/>
          </a:bodyPr>
          <a:lstStyle/>
          <a:p>
            <a:pPr>
              <a:defRPr sz="1500" b="1">
                <a:solidFill>
                  <a:srgbClr val="192D48"/>
                </a:solidFill>
                <a:latin typeface="Aptos"/>
              </a:defRPr>
            </a:pPr>
            <a:r>
              <a:t>Example</a:t>
            </a:r>
          </a:p>
        </p:txBody>
      </p:sp>
      <p:sp>
        <p:nvSpPr>
          <p:cNvPr id="18" name="TextBox 17"/>
          <p:cNvSpPr txBox="1"/>
          <p:nvPr/>
        </p:nvSpPr>
        <p:spPr>
          <a:xfrm>
            <a:off x="8065008" y="1892807"/>
            <a:ext cx="3081528" cy="2907791"/>
          </a:xfrm>
          <a:prstGeom prst="rect">
            <a:avLst/>
          </a:prstGeom>
          <a:noFill/>
        </p:spPr>
        <p:txBody>
          <a:bodyPr wrap="none">
            <a:spAutoFit/>
          </a:bodyPr>
          <a:lstStyle/>
          <a:p>
            <a:pPr>
              <a:defRPr sz="1200">
                <a:solidFill>
                  <a:srgbClr val="5A6470"/>
                </a:solidFill>
                <a:latin typeface="Aptos"/>
              </a:defRPr>
            </a:pPr>
            <a:r>
              <a:t>Mathematics: 45 marks</a:t>
            </a:r>
            <a:br/>
            <a:r>
              <a:t>→ 2 hours/day</a:t>
            </a:r>
            <a:br/>
            <a:r>
              <a:t>→ practice important questions</a:t>
            </a:r>
            <a:br/>
            <a:br/>
            <a:r>
              <a:t>Physics: 35 marks</a:t>
            </a:r>
            <a:br/>
            <a:r>
              <a:t>→ 3 hours/day</a:t>
            </a:r>
            <a:br/>
            <a:r>
              <a:t>→ revise weak topics + practice</a:t>
            </a:r>
          </a:p>
        </p:txBody>
      </p:sp>
      <p:sp>
        <p:nvSpPr>
          <p:cNvPr id="19" name="Rectangle 18"/>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1" name="TextBox 20"/>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8. Database Design</a:t>
            </a:r>
          </a:p>
        </p:txBody>
      </p:sp>
      <p:sp>
        <p:nvSpPr>
          <p:cNvPr id="3" name="TextBox 2"/>
          <p:cNvSpPr txBox="1"/>
          <p:nvPr/>
        </p:nvSpPr>
        <p:spPr>
          <a:xfrm>
            <a:off x="621792" y="841248"/>
            <a:ext cx="10789920" cy="320040"/>
          </a:xfrm>
          <a:prstGeom prst="rect">
            <a:avLst/>
          </a:prstGeom>
          <a:noFill/>
        </p:spPr>
        <p:txBody>
          <a:bodyPr wrap="none">
            <a:spAutoFit/>
          </a:bodyPr>
          <a:lstStyle/>
          <a:p>
            <a:pPr>
              <a:defRPr sz="1150">
                <a:solidFill>
                  <a:srgbClr val="5A6470"/>
                </a:solidFill>
                <a:latin typeface="Aptos"/>
              </a:defRPr>
            </a:pPr>
            <a:r>
              <a:t>SQLite tables used for saving project data</a:t>
            </a:r>
          </a:p>
        </p:txBody>
      </p:sp>
      <p:sp>
        <p:nvSpPr>
          <p:cNvPr id="4" name="Rounded Rectangle 3"/>
          <p:cNvSpPr/>
          <p:nvPr/>
        </p:nvSpPr>
        <p:spPr>
          <a:xfrm>
            <a:off x="411480" y="1234440"/>
            <a:ext cx="2560320" cy="2240280"/>
          </a:xfrm>
          <a:prstGeom prst="roundRect">
            <a:avLst/>
          </a:prstGeom>
          <a:solidFill>
            <a:srgbClr val="E2EEFA"/>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1480" y="1234440"/>
            <a:ext cx="73152" cy="224028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353312"/>
            <a:ext cx="2240279" cy="365760"/>
          </a:xfrm>
          <a:prstGeom prst="rect">
            <a:avLst/>
          </a:prstGeom>
          <a:noFill/>
        </p:spPr>
        <p:txBody>
          <a:bodyPr wrap="none">
            <a:spAutoFit/>
          </a:bodyPr>
          <a:lstStyle/>
          <a:p>
            <a:pPr>
              <a:defRPr sz="1500" b="1">
                <a:solidFill>
                  <a:srgbClr val="192D48"/>
                </a:solidFill>
                <a:latin typeface="Aptos"/>
              </a:defRPr>
            </a:pPr>
            <a:r>
              <a:t>students</a:t>
            </a:r>
          </a:p>
        </p:txBody>
      </p:sp>
      <p:sp>
        <p:nvSpPr>
          <p:cNvPr id="7" name="TextBox 6"/>
          <p:cNvSpPr txBox="1"/>
          <p:nvPr/>
        </p:nvSpPr>
        <p:spPr>
          <a:xfrm>
            <a:off x="612648" y="1801368"/>
            <a:ext cx="2212848" cy="1581912"/>
          </a:xfrm>
          <a:prstGeom prst="rect">
            <a:avLst/>
          </a:prstGeom>
          <a:noFill/>
        </p:spPr>
        <p:txBody>
          <a:bodyPr wrap="none">
            <a:spAutoFit/>
          </a:bodyPr>
          <a:lstStyle/>
          <a:p>
            <a:pPr>
              <a:defRPr sz="1200">
                <a:solidFill>
                  <a:srgbClr val="5A6470"/>
                </a:solidFill>
                <a:latin typeface="Aptos"/>
              </a:defRPr>
            </a:pPr>
            <a:r>
              <a:t>student_id (PK)</a:t>
            </a:r>
            <a:br/>
            <a:r>
              <a:t>name</a:t>
            </a:r>
            <a:br/>
            <a:r>
              <a:t>course</a:t>
            </a:r>
            <a:br/>
            <a:r>
              <a:t>semester</a:t>
            </a:r>
          </a:p>
        </p:txBody>
      </p:sp>
      <p:sp>
        <p:nvSpPr>
          <p:cNvPr id="8" name="Rounded Rectangle 7"/>
          <p:cNvSpPr/>
          <p:nvPr/>
        </p:nvSpPr>
        <p:spPr>
          <a:xfrm>
            <a:off x="3246120" y="1234440"/>
            <a:ext cx="2788920" cy="2468880"/>
          </a:xfrm>
          <a:prstGeom prst="roundRect">
            <a:avLst/>
          </a:prstGeom>
          <a:solidFill>
            <a:srgbClr val="E5F2E8"/>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46120" y="1234440"/>
            <a:ext cx="73152" cy="246888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47288" y="1353312"/>
            <a:ext cx="2468879" cy="365760"/>
          </a:xfrm>
          <a:prstGeom prst="rect">
            <a:avLst/>
          </a:prstGeom>
          <a:noFill/>
        </p:spPr>
        <p:txBody>
          <a:bodyPr wrap="none">
            <a:spAutoFit/>
          </a:bodyPr>
          <a:lstStyle/>
          <a:p>
            <a:pPr>
              <a:defRPr sz="1500" b="1">
                <a:solidFill>
                  <a:srgbClr val="192D48"/>
                </a:solidFill>
                <a:latin typeface="Aptos"/>
              </a:defRPr>
            </a:pPr>
            <a:r>
              <a:t>subjects</a:t>
            </a:r>
          </a:p>
        </p:txBody>
      </p:sp>
      <p:sp>
        <p:nvSpPr>
          <p:cNvPr id="11" name="TextBox 10"/>
          <p:cNvSpPr txBox="1"/>
          <p:nvPr/>
        </p:nvSpPr>
        <p:spPr>
          <a:xfrm>
            <a:off x="3447288" y="1801368"/>
            <a:ext cx="2441448" cy="1810512"/>
          </a:xfrm>
          <a:prstGeom prst="rect">
            <a:avLst/>
          </a:prstGeom>
          <a:noFill/>
        </p:spPr>
        <p:txBody>
          <a:bodyPr wrap="none">
            <a:spAutoFit/>
          </a:bodyPr>
          <a:lstStyle/>
          <a:p>
            <a:pPr>
              <a:defRPr sz="1200">
                <a:solidFill>
                  <a:srgbClr val="5A6470"/>
                </a:solidFill>
                <a:latin typeface="Aptos"/>
              </a:defRPr>
            </a:pPr>
            <a:r>
              <a:t>subject_id (PK)</a:t>
            </a:r>
            <a:br/>
            <a:r>
              <a:t>student_id</a:t>
            </a:r>
            <a:br/>
            <a:r>
              <a:t>subject_name</a:t>
            </a:r>
            <a:br/>
            <a:r>
              <a:t>marks</a:t>
            </a:r>
            <a:br/>
            <a:r>
              <a:t>attendance</a:t>
            </a:r>
            <a:br/>
            <a:r>
              <a:t>exam_date</a:t>
            </a:r>
          </a:p>
        </p:txBody>
      </p:sp>
      <p:sp>
        <p:nvSpPr>
          <p:cNvPr id="12" name="Rounded Rectangle 11"/>
          <p:cNvSpPr/>
          <p:nvPr/>
        </p:nvSpPr>
        <p:spPr>
          <a:xfrm>
            <a:off x="6355080" y="1234440"/>
            <a:ext cx="2606040" cy="2240280"/>
          </a:xfrm>
          <a:prstGeom prst="roundRect">
            <a:avLst/>
          </a:prstGeom>
          <a:solidFill>
            <a:srgbClr val="FAEEDE"/>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55080" y="1234440"/>
            <a:ext cx="73152" cy="224028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6248" y="1353312"/>
            <a:ext cx="2286000" cy="365760"/>
          </a:xfrm>
          <a:prstGeom prst="rect">
            <a:avLst/>
          </a:prstGeom>
          <a:noFill/>
        </p:spPr>
        <p:txBody>
          <a:bodyPr wrap="none">
            <a:spAutoFit/>
          </a:bodyPr>
          <a:lstStyle/>
          <a:p>
            <a:pPr>
              <a:defRPr sz="1500" b="1">
                <a:solidFill>
                  <a:srgbClr val="192D48"/>
                </a:solidFill>
                <a:latin typeface="Aptos"/>
              </a:defRPr>
            </a:pPr>
            <a:r>
              <a:t>study_plan</a:t>
            </a:r>
          </a:p>
        </p:txBody>
      </p:sp>
      <p:sp>
        <p:nvSpPr>
          <p:cNvPr id="15" name="TextBox 14"/>
          <p:cNvSpPr txBox="1"/>
          <p:nvPr/>
        </p:nvSpPr>
        <p:spPr>
          <a:xfrm>
            <a:off x="6556248" y="1801368"/>
            <a:ext cx="2258568" cy="1581912"/>
          </a:xfrm>
          <a:prstGeom prst="rect">
            <a:avLst/>
          </a:prstGeom>
          <a:noFill/>
        </p:spPr>
        <p:txBody>
          <a:bodyPr wrap="none">
            <a:spAutoFit/>
          </a:bodyPr>
          <a:lstStyle/>
          <a:p>
            <a:pPr>
              <a:defRPr sz="1200">
                <a:solidFill>
                  <a:srgbClr val="5A6470"/>
                </a:solidFill>
                <a:latin typeface="Aptos"/>
              </a:defRPr>
            </a:pPr>
            <a:r>
              <a:t>plan_id (PK)</a:t>
            </a:r>
            <a:br/>
            <a:r>
              <a:t>student_id</a:t>
            </a:r>
            <a:br/>
            <a:r>
              <a:t>subject_name</a:t>
            </a:r>
            <a:br/>
            <a:r>
              <a:t>study_hours</a:t>
            </a:r>
          </a:p>
        </p:txBody>
      </p:sp>
      <p:sp>
        <p:nvSpPr>
          <p:cNvPr id="16" name="Rounded Rectangle 15"/>
          <p:cNvSpPr/>
          <p:nvPr/>
        </p:nvSpPr>
        <p:spPr>
          <a:xfrm>
            <a:off x="9281160" y="1234440"/>
            <a:ext cx="2468880" cy="2468880"/>
          </a:xfrm>
          <a:prstGeom prst="roundRect">
            <a:avLst/>
          </a:prstGeom>
          <a:solidFill>
            <a:srgbClr val="F9E5E5"/>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281160" y="1234440"/>
            <a:ext cx="73152" cy="2468880"/>
          </a:xfrm>
          <a:prstGeom prst="rect">
            <a:avLst/>
          </a:prstGeom>
          <a:solidFill>
            <a:srgbClr val="B4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82328" y="1353312"/>
            <a:ext cx="2148840" cy="365760"/>
          </a:xfrm>
          <a:prstGeom prst="rect">
            <a:avLst/>
          </a:prstGeom>
          <a:noFill/>
        </p:spPr>
        <p:txBody>
          <a:bodyPr wrap="none">
            <a:spAutoFit/>
          </a:bodyPr>
          <a:lstStyle/>
          <a:p>
            <a:pPr>
              <a:defRPr sz="1500" b="1">
                <a:solidFill>
                  <a:srgbClr val="192D48"/>
                </a:solidFill>
                <a:latin typeface="Aptos"/>
              </a:defRPr>
            </a:pPr>
            <a:r>
              <a:t>progress</a:t>
            </a:r>
          </a:p>
        </p:txBody>
      </p:sp>
      <p:sp>
        <p:nvSpPr>
          <p:cNvPr id="19" name="TextBox 18"/>
          <p:cNvSpPr txBox="1"/>
          <p:nvPr/>
        </p:nvSpPr>
        <p:spPr>
          <a:xfrm>
            <a:off x="9482328" y="1801368"/>
            <a:ext cx="2121408" cy="1810512"/>
          </a:xfrm>
          <a:prstGeom prst="rect">
            <a:avLst/>
          </a:prstGeom>
          <a:noFill/>
        </p:spPr>
        <p:txBody>
          <a:bodyPr wrap="none">
            <a:spAutoFit/>
          </a:bodyPr>
          <a:lstStyle/>
          <a:p>
            <a:pPr>
              <a:defRPr sz="1200">
                <a:solidFill>
                  <a:srgbClr val="5A6470"/>
                </a:solidFill>
                <a:latin typeface="Aptos"/>
              </a:defRPr>
            </a:pPr>
            <a:r>
              <a:t>progress_id (PK)</a:t>
            </a:r>
            <a:br/>
            <a:r>
              <a:t>student_id</a:t>
            </a:r>
            <a:br/>
            <a:r>
              <a:t>subject_name</a:t>
            </a:r>
            <a:br/>
            <a:r>
              <a:t>completed_topics</a:t>
            </a:r>
            <a:br/>
            <a:r>
              <a:t>total_topics</a:t>
            </a:r>
            <a:br/>
            <a:r>
              <a:t>progress</a:t>
            </a:r>
          </a:p>
        </p:txBody>
      </p:sp>
      <p:cxnSp>
        <p:nvCxnSpPr>
          <p:cNvPr id="20" name="Connector 19"/>
          <p:cNvCxnSpPr/>
          <p:nvPr/>
        </p:nvCxnSpPr>
        <p:spPr>
          <a:xfrm>
            <a:off x="2971800" y="2331720"/>
            <a:ext cx="27432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35040" y="2331720"/>
            <a:ext cx="32004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961120" y="2331720"/>
            <a:ext cx="32004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5" name="TextBox 24"/>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9. Use Case Diagram</a:t>
            </a:r>
          </a:p>
        </p:txBody>
      </p:sp>
      <p:sp>
        <p:nvSpPr>
          <p:cNvPr id="3" name="Oval 2"/>
          <p:cNvSpPr/>
          <p:nvPr/>
        </p:nvSpPr>
        <p:spPr>
          <a:xfrm>
            <a:off x="731520" y="2240280"/>
            <a:ext cx="1005840" cy="1005840"/>
          </a:xfrm>
          <a:prstGeom prst="ellipse">
            <a:avLst/>
          </a:prstGeom>
          <a:solidFill>
            <a:srgbClr val="FAEEDE"/>
          </a:solidFill>
          <a:ln>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310128"/>
            <a:ext cx="1280160" cy="274320"/>
          </a:xfrm>
          <a:prstGeom prst="rect">
            <a:avLst/>
          </a:prstGeom>
          <a:noFill/>
        </p:spPr>
        <p:txBody>
          <a:bodyPr wrap="none">
            <a:spAutoFit/>
          </a:bodyPr>
          <a:lstStyle/>
          <a:p>
            <a:pPr algn="ctr">
              <a:defRPr sz="1300" b="1">
                <a:latin typeface="Aptos"/>
              </a:defRPr>
            </a:pPr>
            <a:r>
              <a:t>Student</a:t>
            </a:r>
          </a:p>
        </p:txBody>
      </p:sp>
      <p:sp>
        <p:nvSpPr>
          <p:cNvPr id="5" name="Rounded Rectangle 4"/>
          <p:cNvSpPr/>
          <p:nvPr/>
        </p:nvSpPr>
        <p:spPr>
          <a:xfrm>
            <a:off x="3291840" y="109728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364992" y="1152144"/>
            <a:ext cx="2596896" cy="512064"/>
          </a:xfrm>
          <a:prstGeom prst="rect">
            <a:avLst/>
          </a:prstGeom>
          <a:noFill/>
        </p:spPr>
        <p:txBody>
          <a:bodyPr wrap="none" anchor="ctr">
            <a:spAutoFit/>
          </a:bodyPr>
          <a:lstStyle/>
          <a:p>
            <a:pPr algn="ctr">
              <a:defRPr sz="1200" b="1">
                <a:solidFill>
                  <a:srgbClr val="192D48"/>
                </a:solidFill>
                <a:latin typeface="Aptos"/>
              </a:defRPr>
            </a:pPr>
            <a:r>
              <a:t>Enter Details</a:t>
            </a:r>
          </a:p>
        </p:txBody>
      </p:sp>
      <p:cxnSp>
        <p:nvCxnSpPr>
          <p:cNvPr id="7" name="Connector 6"/>
          <p:cNvCxnSpPr/>
          <p:nvPr/>
        </p:nvCxnSpPr>
        <p:spPr>
          <a:xfrm flipV="1">
            <a:off x="1737360" y="1408176"/>
            <a:ext cx="1554480" cy="1335024"/>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291840" y="192024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64992" y="1975104"/>
            <a:ext cx="2596896" cy="512064"/>
          </a:xfrm>
          <a:prstGeom prst="rect">
            <a:avLst/>
          </a:prstGeom>
          <a:noFill/>
        </p:spPr>
        <p:txBody>
          <a:bodyPr wrap="none" anchor="ctr">
            <a:spAutoFit/>
          </a:bodyPr>
          <a:lstStyle/>
          <a:p>
            <a:pPr algn="ctr">
              <a:defRPr sz="1200" b="1">
                <a:solidFill>
                  <a:srgbClr val="192D48"/>
                </a:solidFill>
                <a:latin typeface="Aptos"/>
              </a:defRPr>
            </a:pPr>
            <a:r>
              <a:t>Enter Subject Data</a:t>
            </a:r>
          </a:p>
        </p:txBody>
      </p:sp>
      <p:cxnSp>
        <p:nvCxnSpPr>
          <p:cNvPr id="10" name="Connector 9"/>
          <p:cNvCxnSpPr/>
          <p:nvPr/>
        </p:nvCxnSpPr>
        <p:spPr>
          <a:xfrm flipV="1">
            <a:off x="1737360" y="2231136"/>
            <a:ext cx="1554480" cy="512064"/>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91840" y="274320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4992" y="2798064"/>
            <a:ext cx="2596896" cy="512064"/>
          </a:xfrm>
          <a:prstGeom prst="rect">
            <a:avLst/>
          </a:prstGeom>
          <a:noFill/>
        </p:spPr>
        <p:txBody>
          <a:bodyPr wrap="none" anchor="ctr">
            <a:spAutoFit/>
          </a:bodyPr>
          <a:lstStyle/>
          <a:p>
            <a:pPr algn="ctr">
              <a:defRPr sz="1200" b="1">
                <a:solidFill>
                  <a:srgbClr val="192D48"/>
                </a:solidFill>
                <a:latin typeface="Aptos"/>
              </a:defRPr>
            </a:pPr>
            <a:r>
              <a:t>Check Performance</a:t>
            </a:r>
          </a:p>
        </p:txBody>
      </p:sp>
      <p:cxnSp>
        <p:nvCxnSpPr>
          <p:cNvPr id="13" name="Connector 12"/>
          <p:cNvCxnSpPr/>
          <p:nvPr/>
        </p:nvCxnSpPr>
        <p:spPr>
          <a:xfrm>
            <a:off x="1737360" y="2743200"/>
            <a:ext cx="1554480" cy="310896"/>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0" y="109728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88352" y="1152144"/>
            <a:ext cx="2596896" cy="512064"/>
          </a:xfrm>
          <a:prstGeom prst="rect">
            <a:avLst/>
          </a:prstGeom>
          <a:noFill/>
        </p:spPr>
        <p:txBody>
          <a:bodyPr wrap="none" anchor="ctr">
            <a:spAutoFit/>
          </a:bodyPr>
          <a:lstStyle/>
          <a:p>
            <a:pPr algn="ctr">
              <a:defRPr sz="1200" b="1">
                <a:solidFill>
                  <a:srgbClr val="192D48"/>
                </a:solidFill>
                <a:latin typeface="Aptos"/>
              </a:defRPr>
            </a:pPr>
            <a:r>
              <a:t>Get Recommendation</a:t>
            </a:r>
          </a:p>
        </p:txBody>
      </p:sp>
      <p:cxnSp>
        <p:nvCxnSpPr>
          <p:cNvPr id="16" name="Connector 15"/>
          <p:cNvCxnSpPr/>
          <p:nvPr/>
        </p:nvCxnSpPr>
        <p:spPr>
          <a:xfrm flipV="1">
            <a:off x="1737360" y="1408176"/>
            <a:ext cx="5577840" cy="1335024"/>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0" y="192024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8352" y="1975104"/>
            <a:ext cx="2596896" cy="512064"/>
          </a:xfrm>
          <a:prstGeom prst="rect">
            <a:avLst/>
          </a:prstGeom>
          <a:noFill/>
        </p:spPr>
        <p:txBody>
          <a:bodyPr wrap="none" anchor="ctr">
            <a:spAutoFit/>
          </a:bodyPr>
          <a:lstStyle/>
          <a:p>
            <a:pPr algn="ctr">
              <a:defRPr sz="1200" b="1">
                <a:solidFill>
                  <a:srgbClr val="192D48"/>
                </a:solidFill>
                <a:latin typeface="Aptos"/>
              </a:defRPr>
            </a:pPr>
            <a:r>
              <a:t>View Study Plan</a:t>
            </a:r>
          </a:p>
        </p:txBody>
      </p:sp>
      <p:cxnSp>
        <p:nvCxnSpPr>
          <p:cNvPr id="19" name="Connector 18"/>
          <p:cNvCxnSpPr/>
          <p:nvPr/>
        </p:nvCxnSpPr>
        <p:spPr>
          <a:xfrm flipV="1">
            <a:off x="1737360" y="2231136"/>
            <a:ext cx="5577840" cy="512064"/>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15200" y="2743200"/>
            <a:ext cx="2743200" cy="621792"/>
          </a:xfrm>
          <a:prstGeom prst="roundRect">
            <a:avLst/>
          </a:prstGeom>
          <a:solidFill>
            <a:srgbClr val="FFFFFF"/>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88352" y="2798064"/>
            <a:ext cx="2596896" cy="512064"/>
          </a:xfrm>
          <a:prstGeom prst="rect">
            <a:avLst/>
          </a:prstGeom>
          <a:noFill/>
        </p:spPr>
        <p:txBody>
          <a:bodyPr wrap="none" anchor="ctr">
            <a:spAutoFit/>
          </a:bodyPr>
          <a:lstStyle/>
          <a:p>
            <a:pPr algn="ctr">
              <a:defRPr sz="1200" b="1">
                <a:solidFill>
                  <a:srgbClr val="192D48"/>
                </a:solidFill>
                <a:latin typeface="Aptos"/>
              </a:defRPr>
            </a:pPr>
            <a:r>
              <a:t>Track Progress</a:t>
            </a:r>
          </a:p>
        </p:txBody>
      </p:sp>
      <p:cxnSp>
        <p:nvCxnSpPr>
          <p:cNvPr id="22" name="Connector 21"/>
          <p:cNvCxnSpPr/>
          <p:nvPr/>
        </p:nvCxnSpPr>
        <p:spPr>
          <a:xfrm>
            <a:off x="1737360" y="2743200"/>
            <a:ext cx="5577840" cy="310896"/>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5" name="TextBox 24"/>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10. Sequence Diagram</a:t>
            </a:r>
          </a:p>
        </p:txBody>
      </p:sp>
      <p:sp>
        <p:nvSpPr>
          <p:cNvPr id="3" name="Rounded Rectangle 2"/>
          <p:cNvSpPr/>
          <p:nvPr/>
        </p:nvSpPr>
        <p:spPr>
          <a:xfrm>
            <a:off x="731520" y="1097280"/>
            <a:ext cx="1417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152144"/>
            <a:ext cx="1271016" cy="484632"/>
          </a:xfrm>
          <a:prstGeom prst="rect">
            <a:avLst/>
          </a:prstGeom>
          <a:noFill/>
        </p:spPr>
        <p:txBody>
          <a:bodyPr wrap="none" anchor="ctr">
            <a:spAutoFit/>
          </a:bodyPr>
          <a:lstStyle/>
          <a:p>
            <a:pPr algn="ctr">
              <a:defRPr sz="1050" b="1">
                <a:solidFill>
                  <a:srgbClr val="192D48"/>
                </a:solidFill>
                <a:latin typeface="Aptos"/>
              </a:defRPr>
            </a:pPr>
            <a:r>
              <a:t>Student</a:t>
            </a:r>
          </a:p>
        </p:txBody>
      </p:sp>
      <p:cxnSp>
        <p:nvCxnSpPr>
          <p:cNvPr id="5" name="Connector 4"/>
          <p:cNvCxnSpPr/>
          <p:nvPr/>
        </p:nvCxnSpPr>
        <p:spPr>
          <a:xfrm>
            <a:off x="1444752" y="1691640"/>
            <a:ext cx="0" cy="3886200"/>
          </a:xfrm>
          <a:prstGeom prst="line">
            <a:avLst/>
          </a:prstGeom>
          <a:ln>
            <a:solidFill>
              <a:srgbClr val="5A647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26080" y="1097280"/>
            <a:ext cx="1417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99232" y="1152144"/>
            <a:ext cx="1271016" cy="484632"/>
          </a:xfrm>
          <a:prstGeom prst="rect">
            <a:avLst/>
          </a:prstGeom>
          <a:noFill/>
        </p:spPr>
        <p:txBody>
          <a:bodyPr wrap="none" anchor="ctr">
            <a:spAutoFit/>
          </a:bodyPr>
          <a:lstStyle/>
          <a:p>
            <a:pPr algn="ctr">
              <a:defRPr sz="1050" b="1">
                <a:solidFill>
                  <a:srgbClr val="192D48"/>
                </a:solidFill>
                <a:latin typeface="Aptos"/>
              </a:defRPr>
            </a:pPr>
            <a:r>
              <a:t>app.py</a:t>
            </a:r>
          </a:p>
        </p:txBody>
      </p:sp>
      <p:cxnSp>
        <p:nvCxnSpPr>
          <p:cNvPr id="8" name="Connector 7"/>
          <p:cNvCxnSpPr/>
          <p:nvPr/>
        </p:nvCxnSpPr>
        <p:spPr>
          <a:xfrm>
            <a:off x="3639312" y="1691640"/>
            <a:ext cx="0" cy="3886200"/>
          </a:xfrm>
          <a:prstGeom prst="line">
            <a:avLst/>
          </a:prstGeom>
          <a:ln>
            <a:solidFill>
              <a:srgbClr val="5A647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2080" y="1097280"/>
            <a:ext cx="1417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85232" y="1152144"/>
            <a:ext cx="1271016" cy="484632"/>
          </a:xfrm>
          <a:prstGeom prst="rect">
            <a:avLst/>
          </a:prstGeom>
          <a:noFill/>
        </p:spPr>
        <p:txBody>
          <a:bodyPr wrap="none" anchor="ctr">
            <a:spAutoFit/>
          </a:bodyPr>
          <a:lstStyle/>
          <a:p>
            <a:pPr algn="ctr">
              <a:defRPr sz="1050" b="1">
                <a:solidFill>
                  <a:srgbClr val="192D48"/>
                </a:solidFill>
                <a:latin typeface="Aptos"/>
              </a:defRPr>
            </a:pPr>
            <a:r>
              <a:t>Recommendation</a:t>
            </a:r>
          </a:p>
        </p:txBody>
      </p:sp>
      <p:cxnSp>
        <p:nvCxnSpPr>
          <p:cNvPr id="11" name="Connector 10"/>
          <p:cNvCxnSpPr/>
          <p:nvPr/>
        </p:nvCxnSpPr>
        <p:spPr>
          <a:xfrm>
            <a:off x="5925312" y="1691640"/>
            <a:ext cx="0" cy="3886200"/>
          </a:xfrm>
          <a:prstGeom prst="line">
            <a:avLst/>
          </a:prstGeom>
          <a:ln>
            <a:solidFill>
              <a:srgbClr val="5A647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635240" y="1097280"/>
            <a:ext cx="1417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08392" y="1152144"/>
            <a:ext cx="1271016" cy="484632"/>
          </a:xfrm>
          <a:prstGeom prst="rect">
            <a:avLst/>
          </a:prstGeom>
          <a:noFill/>
        </p:spPr>
        <p:txBody>
          <a:bodyPr wrap="none" anchor="ctr">
            <a:spAutoFit/>
          </a:bodyPr>
          <a:lstStyle/>
          <a:p>
            <a:pPr algn="ctr">
              <a:defRPr sz="1050" b="1">
                <a:solidFill>
                  <a:srgbClr val="192D48"/>
                </a:solidFill>
                <a:latin typeface="Aptos"/>
              </a:defRPr>
            </a:pPr>
            <a:r>
              <a:t>Study Planner</a:t>
            </a:r>
          </a:p>
        </p:txBody>
      </p:sp>
      <p:cxnSp>
        <p:nvCxnSpPr>
          <p:cNvPr id="14" name="Connector 13"/>
          <p:cNvCxnSpPr/>
          <p:nvPr/>
        </p:nvCxnSpPr>
        <p:spPr>
          <a:xfrm>
            <a:off x="8348471" y="1691640"/>
            <a:ext cx="0" cy="3886200"/>
          </a:xfrm>
          <a:prstGeom prst="line">
            <a:avLst/>
          </a:prstGeom>
          <a:ln>
            <a:solidFill>
              <a:srgbClr val="5A647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29800" y="1097280"/>
            <a:ext cx="1417320" cy="5943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02952" y="1152144"/>
            <a:ext cx="1271016" cy="484632"/>
          </a:xfrm>
          <a:prstGeom prst="rect">
            <a:avLst/>
          </a:prstGeom>
          <a:noFill/>
        </p:spPr>
        <p:txBody>
          <a:bodyPr wrap="none" anchor="ctr">
            <a:spAutoFit/>
          </a:bodyPr>
          <a:lstStyle/>
          <a:p>
            <a:pPr algn="ctr">
              <a:defRPr sz="1050" b="1">
                <a:solidFill>
                  <a:srgbClr val="192D48"/>
                </a:solidFill>
                <a:latin typeface="Aptos"/>
              </a:defRPr>
            </a:pPr>
            <a:r>
              <a:t>Database</a:t>
            </a:r>
          </a:p>
        </p:txBody>
      </p:sp>
      <p:cxnSp>
        <p:nvCxnSpPr>
          <p:cNvPr id="17" name="Connector 16"/>
          <p:cNvCxnSpPr/>
          <p:nvPr/>
        </p:nvCxnSpPr>
        <p:spPr>
          <a:xfrm>
            <a:off x="10543032" y="1691640"/>
            <a:ext cx="0" cy="3886200"/>
          </a:xfrm>
          <a:prstGeom prst="line">
            <a:avLst/>
          </a:prstGeom>
          <a:ln>
            <a:solidFill>
              <a:srgbClr val="5A647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48840" y="2148840"/>
            <a:ext cx="1508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400300" y="1874520"/>
            <a:ext cx="1005840" cy="228600"/>
          </a:xfrm>
          <a:prstGeom prst="rect">
            <a:avLst/>
          </a:prstGeom>
          <a:noFill/>
        </p:spPr>
        <p:txBody>
          <a:bodyPr wrap="none">
            <a:spAutoFit/>
          </a:bodyPr>
          <a:lstStyle/>
          <a:p>
            <a:pPr algn="ctr">
              <a:defRPr sz="900">
                <a:solidFill>
                  <a:srgbClr val="5A6470"/>
                </a:solidFill>
                <a:latin typeface="Aptos"/>
              </a:defRPr>
            </a:pPr>
            <a:r>
              <a:t>Enter data</a:t>
            </a:r>
          </a:p>
        </p:txBody>
      </p:sp>
      <p:cxnSp>
        <p:nvCxnSpPr>
          <p:cNvPr id="20" name="Connector 19"/>
          <p:cNvCxnSpPr/>
          <p:nvPr/>
        </p:nvCxnSpPr>
        <p:spPr>
          <a:xfrm>
            <a:off x="4343400" y="2926080"/>
            <a:ext cx="155448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17720" y="2651760"/>
            <a:ext cx="1005840" cy="228600"/>
          </a:xfrm>
          <a:prstGeom prst="rect">
            <a:avLst/>
          </a:prstGeom>
          <a:noFill/>
        </p:spPr>
        <p:txBody>
          <a:bodyPr wrap="none">
            <a:spAutoFit/>
          </a:bodyPr>
          <a:lstStyle/>
          <a:p>
            <a:pPr algn="ctr">
              <a:defRPr sz="900">
                <a:solidFill>
                  <a:srgbClr val="5A6470"/>
                </a:solidFill>
                <a:latin typeface="Aptos"/>
              </a:defRPr>
            </a:pPr>
            <a:r>
              <a:t>Analyze</a:t>
            </a:r>
          </a:p>
        </p:txBody>
      </p:sp>
      <p:cxnSp>
        <p:nvCxnSpPr>
          <p:cNvPr id="22" name="Connector 21"/>
          <p:cNvCxnSpPr/>
          <p:nvPr/>
        </p:nvCxnSpPr>
        <p:spPr>
          <a:xfrm>
            <a:off x="6629400" y="3703320"/>
            <a:ext cx="169164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72300" y="3429000"/>
            <a:ext cx="1005840" cy="228600"/>
          </a:xfrm>
          <a:prstGeom prst="rect">
            <a:avLst/>
          </a:prstGeom>
          <a:noFill/>
        </p:spPr>
        <p:txBody>
          <a:bodyPr wrap="none">
            <a:spAutoFit/>
          </a:bodyPr>
          <a:lstStyle/>
          <a:p>
            <a:pPr algn="ctr">
              <a:defRPr sz="900">
                <a:solidFill>
                  <a:srgbClr val="5A6470"/>
                </a:solidFill>
                <a:latin typeface="Aptos"/>
              </a:defRPr>
            </a:pPr>
            <a:r>
              <a:t>Create plan</a:t>
            </a:r>
          </a:p>
        </p:txBody>
      </p:sp>
      <p:cxnSp>
        <p:nvCxnSpPr>
          <p:cNvPr id="24" name="Connector 23"/>
          <p:cNvCxnSpPr/>
          <p:nvPr/>
        </p:nvCxnSpPr>
        <p:spPr>
          <a:xfrm>
            <a:off x="9052560" y="4480560"/>
            <a:ext cx="150876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304020" y="4206240"/>
            <a:ext cx="1005840" cy="228600"/>
          </a:xfrm>
          <a:prstGeom prst="rect">
            <a:avLst/>
          </a:prstGeom>
          <a:noFill/>
        </p:spPr>
        <p:txBody>
          <a:bodyPr wrap="none">
            <a:spAutoFit/>
          </a:bodyPr>
          <a:lstStyle/>
          <a:p>
            <a:pPr algn="ctr">
              <a:defRPr sz="900">
                <a:solidFill>
                  <a:srgbClr val="5A6470"/>
                </a:solidFill>
                <a:latin typeface="Aptos"/>
              </a:defRPr>
            </a:pPr>
            <a:r>
              <a:t>Save</a:t>
            </a:r>
          </a:p>
        </p:txBody>
      </p:sp>
      <p:cxnSp>
        <p:nvCxnSpPr>
          <p:cNvPr id="26" name="Connector 25"/>
          <p:cNvCxnSpPr/>
          <p:nvPr/>
        </p:nvCxnSpPr>
        <p:spPr>
          <a:xfrm flipH="1">
            <a:off x="2148840" y="5212080"/>
            <a:ext cx="8412480" cy="0"/>
          </a:xfrm>
          <a:prstGeom prst="line">
            <a:avLst/>
          </a:prstGeom>
          <a:ln w="25400">
            <a:solidFill>
              <a:srgbClr val="5A647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52160" y="4937760"/>
            <a:ext cx="1005840" cy="228600"/>
          </a:xfrm>
          <a:prstGeom prst="rect">
            <a:avLst/>
          </a:prstGeom>
          <a:noFill/>
        </p:spPr>
        <p:txBody>
          <a:bodyPr wrap="none">
            <a:spAutoFit/>
          </a:bodyPr>
          <a:lstStyle/>
          <a:p>
            <a:pPr algn="ctr">
              <a:defRPr sz="900">
                <a:solidFill>
                  <a:srgbClr val="5A6470"/>
                </a:solidFill>
                <a:latin typeface="Aptos"/>
              </a:defRPr>
            </a:pPr>
            <a:r>
              <a:t>Result</a:t>
            </a:r>
          </a:p>
        </p:txBody>
      </p:sp>
      <p:sp>
        <p:nvSpPr>
          <p:cNvPr id="28" name="Rectangle 27"/>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30" name="TextBox 29"/>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11. Testing</a:t>
            </a:r>
          </a:p>
        </p:txBody>
      </p:sp>
      <p:graphicFrame>
        <p:nvGraphicFramePr>
          <p:cNvPr id="3" name="Table 2"/>
          <p:cNvGraphicFramePr>
            <a:graphicFrameLocks noGrp="1"/>
          </p:cNvGraphicFramePr>
          <p:nvPr/>
        </p:nvGraphicFramePr>
        <p:xfrm>
          <a:off x="777240" y="1325880"/>
          <a:ext cx="10698480" cy="43891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27017">
                <a:tc>
                  <a:txBody>
                    <a:bodyPr/>
                    <a:lstStyle/>
                    <a:p>
                      <a:pPr>
                        <a:defRPr sz="1300" b="1">
                          <a:solidFill>
                            <a:srgbClr val="FFFFFF"/>
                          </a:solidFill>
                          <a:latin typeface="Aptos"/>
                        </a:defRPr>
                      </a:pPr>
                      <a:r>
                        <a:t>Test Case</a:t>
                      </a:r>
                    </a:p>
                  </a:txBody>
                  <a:tcPr>
                    <a:solidFill>
                      <a:srgbClr val="192D48"/>
                    </a:solidFill>
                  </a:tcPr>
                </a:tc>
                <a:tc>
                  <a:txBody>
                    <a:bodyPr/>
                    <a:lstStyle/>
                    <a:p>
                      <a:pPr>
                        <a:defRPr sz="1300" b="1">
                          <a:solidFill>
                            <a:srgbClr val="FFFFFF"/>
                          </a:solidFill>
                          <a:latin typeface="Aptos"/>
                        </a:defRPr>
                      </a:pPr>
                      <a:r>
                        <a:t>Input / Example</a:t>
                      </a:r>
                    </a:p>
                  </a:txBody>
                  <a:tcPr>
                    <a:solidFill>
                      <a:srgbClr val="192D48"/>
                    </a:solidFill>
                  </a:tcPr>
                </a:tc>
                <a:tc>
                  <a:txBody>
                    <a:bodyPr/>
                    <a:lstStyle/>
                    <a:p>
                      <a:pPr>
                        <a:defRPr sz="1300" b="1">
                          <a:solidFill>
                            <a:srgbClr val="FFFFFF"/>
                          </a:solidFill>
                          <a:latin typeface="Aptos"/>
                        </a:defRPr>
                      </a:pPr>
                      <a:r>
                        <a:t>Expected Result</a:t>
                      </a:r>
                    </a:p>
                  </a:txBody>
                  <a:tcPr>
                    <a:solidFill>
                      <a:srgbClr val="192D48"/>
                    </a:solidFill>
                  </a:tcPr>
                </a:tc>
                <a:extLst>
                  <a:ext uri="{0D108BD9-81ED-4DB2-BD59-A6C34878D82A}">
                    <a16:rowId xmlns:a16="http://schemas.microsoft.com/office/drawing/2014/main" val="10000"/>
                  </a:ext>
                </a:extLst>
              </a:tr>
              <a:tr h="627017">
                <a:tc>
                  <a:txBody>
                    <a:bodyPr/>
                    <a:lstStyle/>
                    <a:p>
                      <a:pPr>
                        <a:defRPr sz="1200">
                          <a:solidFill>
                            <a:srgbClr val="191919"/>
                          </a:solidFill>
                          <a:latin typeface="Aptos"/>
                        </a:defRPr>
                      </a:pPr>
                      <a:r>
                        <a:t>Valid marks</a:t>
                      </a:r>
                    </a:p>
                  </a:txBody>
                  <a:tcPr>
                    <a:solidFill>
                      <a:srgbClr val="FFFFFF"/>
                    </a:solidFill>
                  </a:tcPr>
                </a:tc>
                <a:tc>
                  <a:txBody>
                    <a:bodyPr/>
                    <a:lstStyle/>
                    <a:p>
                      <a:pPr>
                        <a:defRPr sz="1200">
                          <a:solidFill>
                            <a:srgbClr val="191919"/>
                          </a:solidFill>
                          <a:latin typeface="Aptos"/>
                        </a:defRPr>
                      </a:pPr>
                      <a:r>
                        <a:t>80</a:t>
                      </a:r>
                    </a:p>
                  </a:txBody>
                  <a:tcPr>
                    <a:solidFill>
                      <a:srgbClr val="FFFFFF"/>
                    </a:solidFill>
                  </a:tcPr>
                </a:tc>
                <a:tc>
                  <a:txBody>
                    <a:bodyPr/>
                    <a:lstStyle/>
                    <a:p>
                      <a:pPr>
                        <a:defRPr sz="1200">
                          <a:solidFill>
                            <a:srgbClr val="191919"/>
                          </a:solidFill>
                          <a:latin typeface="Aptos"/>
                        </a:defRPr>
                      </a:pPr>
                      <a:r>
                        <a:t>Accepted</a:t>
                      </a:r>
                    </a:p>
                  </a:txBody>
                  <a:tcPr>
                    <a:solidFill>
                      <a:srgbClr val="FFFFFF"/>
                    </a:solidFill>
                  </a:tcPr>
                </a:tc>
                <a:extLst>
                  <a:ext uri="{0D108BD9-81ED-4DB2-BD59-A6C34878D82A}">
                    <a16:rowId xmlns:a16="http://schemas.microsoft.com/office/drawing/2014/main" val="10001"/>
                  </a:ext>
                </a:extLst>
              </a:tr>
              <a:tr h="627017">
                <a:tc>
                  <a:txBody>
                    <a:bodyPr/>
                    <a:lstStyle/>
                    <a:p>
                      <a:pPr>
                        <a:defRPr sz="1200">
                          <a:solidFill>
                            <a:srgbClr val="191919"/>
                          </a:solidFill>
                          <a:latin typeface="Aptos"/>
                        </a:defRPr>
                      </a:pPr>
                      <a:r>
                        <a:t>Low marks</a:t>
                      </a:r>
                    </a:p>
                  </a:txBody>
                  <a:tcPr>
                    <a:solidFill>
                      <a:srgbClr val="EBEEF2"/>
                    </a:solidFill>
                  </a:tcPr>
                </a:tc>
                <a:tc>
                  <a:txBody>
                    <a:bodyPr/>
                    <a:lstStyle/>
                    <a:p>
                      <a:pPr>
                        <a:defRPr sz="1200">
                          <a:solidFill>
                            <a:srgbClr val="191919"/>
                          </a:solidFill>
                          <a:latin typeface="Aptos"/>
                        </a:defRPr>
                      </a:pPr>
                      <a:r>
                        <a:t>35</a:t>
                      </a:r>
                    </a:p>
                  </a:txBody>
                  <a:tcPr>
                    <a:solidFill>
                      <a:srgbClr val="EBEEF2"/>
                    </a:solidFill>
                  </a:tcPr>
                </a:tc>
                <a:tc>
                  <a:txBody>
                    <a:bodyPr/>
                    <a:lstStyle/>
                    <a:p>
                      <a:pPr>
                        <a:defRPr sz="1200">
                          <a:solidFill>
                            <a:srgbClr val="191919"/>
                          </a:solidFill>
                          <a:latin typeface="Aptos"/>
                        </a:defRPr>
                      </a:pPr>
                      <a:r>
                        <a:t>3 hours/day</a:t>
                      </a:r>
                    </a:p>
                  </a:txBody>
                  <a:tcPr>
                    <a:solidFill>
                      <a:srgbClr val="EBEEF2"/>
                    </a:solidFill>
                  </a:tcPr>
                </a:tc>
                <a:extLst>
                  <a:ext uri="{0D108BD9-81ED-4DB2-BD59-A6C34878D82A}">
                    <a16:rowId xmlns:a16="http://schemas.microsoft.com/office/drawing/2014/main" val="10002"/>
                  </a:ext>
                </a:extLst>
              </a:tr>
              <a:tr h="627017">
                <a:tc>
                  <a:txBody>
                    <a:bodyPr/>
                    <a:lstStyle/>
                    <a:p>
                      <a:pPr>
                        <a:defRPr sz="1200">
                          <a:solidFill>
                            <a:srgbClr val="191919"/>
                          </a:solidFill>
                          <a:latin typeface="Aptos"/>
                        </a:defRPr>
                      </a:pPr>
                      <a:r>
                        <a:t>Attendance</a:t>
                      </a:r>
                    </a:p>
                  </a:txBody>
                  <a:tcPr>
                    <a:solidFill>
                      <a:srgbClr val="FFFFFF"/>
                    </a:solidFill>
                  </a:tcPr>
                </a:tc>
                <a:tc>
                  <a:txBody>
                    <a:bodyPr/>
                    <a:lstStyle/>
                    <a:p>
                      <a:pPr>
                        <a:defRPr sz="1200">
                          <a:solidFill>
                            <a:srgbClr val="191919"/>
                          </a:solidFill>
                          <a:latin typeface="Aptos"/>
                        </a:defRPr>
                      </a:pPr>
                      <a:r>
                        <a:t>70%</a:t>
                      </a:r>
                    </a:p>
                  </a:txBody>
                  <a:tcPr>
                    <a:solidFill>
                      <a:srgbClr val="FFFFFF"/>
                    </a:solidFill>
                  </a:tcPr>
                </a:tc>
                <a:tc>
                  <a:txBody>
                    <a:bodyPr/>
                    <a:lstStyle/>
                    <a:p>
                      <a:pPr>
                        <a:defRPr sz="1200">
                          <a:solidFill>
                            <a:srgbClr val="191919"/>
                          </a:solidFill>
                          <a:latin typeface="Aptos"/>
                        </a:defRPr>
                      </a:pPr>
                      <a:r>
                        <a:t>Warning</a:t>
                      </a:r>
                    </a:p>
                  </a:txBody>
                  <a:tcPr>
                    <a:solidFill>
                      <a:srgbClr val="FFFFFF"/>
                    </a:solidFill>
                  </a:tcPr>
                </a:tc>
                <a:extLst>
                  <a:ext uri="{0D108BD9-81ED-4DB2-BD59-A6C34878D82A}">
                    <a16:rowId xmlns:a16="http://schemas.microsoft.com/office/drawing/2014/main" val="10003"/>
                  </a:ext>
                </a:extLst>
              </a:tr>
              <a:tr h="627017">
                <a:tc>
                  <a:txBody>
                    <a:bodyPr/>
                    <a:lstStyle/>
                    <a:p>
                      <a:pPr>
                        <a:defRPr sz="1200">
                          <a:solidFill>
                            <a:srgbClr val="191919"/>
                          </a:solidFill>
                          <a:latin typeface="Aptos"/>
                        </a:defRPr>
                      </a:pPr>
                      <a:r>
                        <a:t>Exam near</a:t>
                      </a:r>
                    </a:p>
                  </a:txBody>
                  <a:tcPr>
                    <a:solidFill>
                      <a:srgbClr val="EBEEF2"/>
                    </a:solidFill>
                  </a:tcPr>
                </a:tc>
                <a:tc>
                  <a:txBody>
                    <a:bodyPr/>
                    <a:lstStyle/>
                    <a:p>
                      <a:pPr>
                        <a:defRPr sz="1200">
                          <a:solidFill>
                            <a:srgbClr val="191919"/>
                          </a:solidFill>
                          <a:latin typeface="Aptos"/>
                        </a:defRPr>
                      </a:pPr>
                      <a:r>
                        <a:t>5 days</a:t>
                      </a:r>
                    </a:p>
                  </a:txBody>
                  <a:tcPr>
                    <a:solidFill>
                      <a:srgbClr val="EBEEF2"/>
                    </a:solidFill>
                  </a:tcPr>
                </a:tc>
                <a:tc>
                  <a:txBody>
                    <a:bodyPr/>
                    <a:lstStyle/>
                    <a:p>
                      <a:pPr>
                        <a:defRPr sz="1200">
                          <a:solidFill>
                            <a:srgbClr val="191919"/>
                          </a:solidFill>
                          <a:latin typeface="Aptos"/>
                        </a:defRPr>
                      </a:pPr>
                      <a:r>
                        <a:t>Higher attention</a:t>
                      </a:r>
                    </a:p>
                  </a:txBody>
                  <a:tcPr>
                    <a:solidFill>
                      <a:srgbClr val="EBEEF2"/>
                    </a:solidFill>
                  </a:tcPr>
                </a:tc>
                <a:extLst>
                  <a:ext uri="{0D108BD9-81ED-4DB2-BD59-A6C34878D82A}">
                    <a16:rowId xmlns:a16="http://schemas.microsoft.com/office/drawing/2014/main" val="10004"/>
                  </a:ext>
                </a:extLst>
              </a:tr>
              <a:tr h="627017">
                <a:tc>
                  <a:txBody>
                    <a:bodyPr/>
                    <a:lstStyle/>
                    <a:p>
                      <a:pPr>
                        <a:defRPr sz="1200">
                          <a:solidFill>
                            <a:srgbClr val="191919"/>
                          </a:solidFill>
                          <a:latin typeface="Aptos"/>
                        </a:defRPr>
                      </a:pPr>
                      <a:r>
                        <a:t>Good marks</a:t>
                      </a:r>
                    </a:p>
                  </a:txBody>
                  <a:tcPr>
                    <a:solidFill>
                      <a:srgbClr val="FFFFFF"/>
                    </a:solidFill>
                  </a:tcPr>
                </a:tc>
                <a:tc>
                  <a:txBody>
                    <a:bodyPr/>
                    <a:lstStyle/>
                    <a:p>
                      <a:pPr>
                        <a:defRPr sz="1200">
                          <a:solidFill>
                            <a:srgbClr val="191919"/>
                          </a:solidFill>
                          <a:latin typeface="Aptos"/>
                        </a:defRPr>
                      </a:pPr>
                      <a:r>
                        <a:t>75</a:t>
                      </a:r>
                    </a:p>
                  </a:txBody>
                  <a:tcPr>
                    <a:solidFill>
                      <a:srgbClr val="FFFFFF"/>
                    </a:solidFill>
                  </a:tcPr>
                </a:tc>
                <a:tc>
                  <a:txBody>
                    <a:bodyPr/>
                    <a:lstStyle/>
                    <a:p>
                      <a:pPr>
                        <a:defRPr sz="1200">
                          <a:solidFill>
                            <a:srgbClr val="191919"/>
                          </a:solidFill>
                          <a:latin typeface="Aptos"/>
                        </a:defRPr>
                      </a:pPr>
                      <a:r>
                        <a:t>1 hour/day</a:t>
                      </a:r>
                    </a:p>
                  </a:txBody>
                  <a:tcPr>
                    <a:solidFill>
                      <a:srgbClr val="FFFFFF"/>
                    </a:solidFill>
                  </a:tcPr>
                </a:tc>
                <a:extLst>
                  <a:ext uri="{0D108BD9-81ED-4DB2-BD59-A6C34878D82A}">
                    <a16:rowId xmlns:a16="http://schemas.microsoft.com/office/drawing/2014/main" val="10005"/>
                  </a:ext>
                </a:extLst>
              </a:tr>
              <a:tr h="627018">
                <a:tc>
                  <a:txBody>
                    <a:bodyPr/>
                    <a:lstStyle/>
                    <a:p>
                      <a:pPr>
                        <a:defRPr sz="1200">
                          <a:solidFill>
                            <a:srgbClr val="191919"/>
                          </a:solidFill>
                          <a:latin typeface="Aptos"/>
                        </a:defRPr>
                      </a:pPr>
                      <a:r>
                        <a:t>Progress</a:t>
                      </a:r>
                    </a:p>
                  </a:txBody>
                  <a:tcPr>
                    <a:solidFill>
                      <a:srgbClr val="EBEEF2"/>
                    </a:solidFill>
                  </a:tcPr>
                </a:tc>
                <a:tc>
                  <a:txBody>
                    <a:bodyPr/>
                    <a:lstStyle/>
                    <a:p>
                      <a:pPr>
                        <a:defRPr sz="1200">
                          <a:solidFill>
                            <a:srgbClr val="191919"/>
                          </a:solidFill>
                          <a:latin typeface="Aptos"/>
                        </a:defRPr>
                      </a:pPr>
                      <a:r>
                        <a:t>8 / 10</a:t>
                      </a:r>
                    </a:p>
                  </a:txBody>
                  <a:tcPr>
                    <a:solidFill>
                      <a:srgbClr val="EBEEF2"/>
                    </a:solidFill>
                  </a:tcPr>
                </a:tc>
                <a:tc>
                  <a:txBody>
                    <a:bodyPr/>
                    <a:lstStyle/>
                    <a:p>
                      <a:pPr>
                        <a:defRPr sz="1200">
                          <a:solidFill>
                            <a:srgbClr val="191919"/>
                          </a:solidFill>
                          <a:latin typeface="Aptos"/>
                        </a:defRPr>
                      </a:pPr>
                      <a:r>
                        <a:t>80%</a:t>
                      </a:r>
                    </a:p>
                  </a:txBody>
                  <a:tcPr>
                    <a:solidFill>
                      <a:srgbClr val="EBEEF2"/>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6" name="TextBox 5"/>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12. Non-Functional Requirements</a:t>
            </a:r>
          </a:p>
        </p:txBody>
      </p:sp>
      <p:sp>
        <p:nvSpPr>
          <p:cNvPr id="3" name="Rounded Rectangle 2"/>
          <p:cNvSpPr/>
          <p:nvPr/>
        </p:nvSpPr>
        <p:spPr>
          <a:xfrm>
            <a:off x="594360" y="123444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1234440"/>
            <a:ext cx="73152" cy="18288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53312"/>
            <a:ext cx="3017520" cy="365760"/>
          </a:xfrm>
          <a:prstGeom prst="rect">
            <a:avLst/>
          </a:prstGeom>
          <a:noFill/>
        </p:spPr>
        <p:txBody>
          <a:bodyPr wrap="none">
            <a:spAutoFit/>
          </a:bodyPr>
          <a:lstStyle/>
          <a:p>
            <a:pPr>
              <a:defRPr sz="1500" b="1">
                <a:solidFill>
                  <a:srgbClr val="192D48"/>
                </a:solidFill>
                <a:latin typeface="Aptos"/>
              </a:defRPr>
            </a:pPr>
            <a:r>
              <a:t>Usability</a:t>
            </a:r>
          </a:p>
        </p:txBody>
      </p:sp>
      <p:sp>
        <p:nvSpPr>
          <p:cNvPr id="6" name="TextBox 5"/>
          <p:cNvSpPr txBox="1"/>
          <p:nvPr/>
        </p:nvSpPr>
        <p:spPr>
          <a:xfrm>
            <a:off x="795528" y="1801368"/>
            <a:ext cx="2990088" cy="1170432"/>
          </a:xfrm>
          <a:prstGeom prst="rect">
            <a:avLst/>
          </a:prstGeom>
          <a:noFill/>
        </p:spPr>
        <p:txBody>
          <a:bodyPr wrap="none">
            <a:spAutoFit/>
          </a:bodyPr>
          <a:lstStyle/>
          <a:p>
            <a:pPr>
              <a:defRPr sz="1200">
                <a:solidFill>
                  <a:srgbClr val="5A6470"/>
                </a:solidFill>
                <a:latin typeface="Aptos"/>
              </a:defRPr>
            </a:pPr>
            <a:r>
              <a:t>Easy inputs and readable output.</a:t>
            </a:r>
          </a:p>
        </p:txBody>
      </p:sp>
      <p:sp>
        <p:nvSpPr>
          <p:cNvPr id="7" name="Rounded Rectangle 6"/>
          <p:cNvSpPr/>
          <p:nvPr/>
        </p:nvSpPr>
        <p:spPr>
          <a:xfrm>
            <a:off x="4389120" y="123444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0" y="1234440"/>
            <a:ext cx="73152" cy="182880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0288" y="1353312"/>
            <a:ext cx="3017520" cy="365760"/>
          </a:xfrm>
          <a:prstGeom prst="rect">
            <a:avLst/>
          </a:prstGeom>
          <a:noFill/>
        </p:spPr>
        <p:txBody>
          <a:bodyPr wrap="none">
            <a:spAutoFit/>
          </a:bodyPr>
          <a:lstStyle/>
          <a:p>
            <a:pPr>
              <a:defRPr sz="1500" b="1">
                <a:solidFill>
                  <a:srgbClr val="192D48"/>
                </a:solidFill>
                <a:latin typeface="Aptos"/>
              </a:defRPr>
            </a:pPr>
            <a:r>
              <a:t>Reliability</a:t>
            </a:r>
          </a:p>
        </p:txBody>
      </p:sp>
      <p:sp>
        <p:nvSpPr>
          <p:cNvPr id="10" name="TextBox 9"/>
          <p:cNvSpPr txBox="1"/>
          <p:nvPr/>
        </p:nvSpPr>
        <p:spPr>
          <a:xfrm>
            <a:off x="4590288" y="1801368"/>
            <a:ext cx="2990088" cy="1170432"/>
          </a:xfrm>
          <a:prstGeom prst="rect">
            <a:avLst/>
          </a:prstGeom>
          <a:noFill/>
        </p:spPr>
        <p:txBody>
          <a:bodyPr wrap="none">
            <a:spAutoFit/>
          </a:bodyPr>
          <a:lstStyle/>
          <a:p>
            <a:pPr>
              <a:defRPr sz="1200">
                <a:solidFill>
                  <a:srgbClr val="5A6470"/>
                </a:solidFill>
                <a:latin typeface="Aptos"/>
              </a:defRPr>
            </a:pPr>
            <a:r>
              <a:t>Normal and invalid inputs handled.</a:t>
            </a:r>
          </a:p>
        </p:txBody>
      </p:sp>
      <p:sp>
        <p:nvSpPr>
          <p:cNvPr id="11" name="Rounded Rectangle 10"/>
          <p:cNvSpPr/>
          <p:nvPr/>
        </p:nvSpPr>
        <p:spPr>
          <a:xfrm>
            <a:off x="8183880" y="123444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83880" y="1234440"/>
            <a:ext cx="73152" cy="1828800"/>
          </a:xfrm>
          <a:prstGeom prst="rect">
            <a:avLst/>
          </a:prstGeom>
          <a:solidFill>
            <a:srgbClr val="D2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85048" y="1353312"/>
            <a:ext cx="3017520" cy="365760"/>
          </a:xfrm>
          <a:prstGeom prst="rect">
            <a:avLst/>
          </a:prstGeom>
          <a:noFill/>
        </p:spPr>
        <p:txBody>
          <a:bodyPr wrap="none">
            <a:spAutoFit/>
          </a:bodyPr>
          <a:lstStyle/>
          <a:p>
            <a:pPr>
              <a:defRPr sz="1500" b="1">
                <a:solidFill>
                  <a:srgbClr val="192D48"/>
                </a:solidFill>
                <a:latin typeface="Aptos"/>
              </a:defRPr>
            </a:pPr>
            <a:r>
              <a:t>Maintainability</a:t>
            </a:r>
          </a:p>
        </p:txBody>
      </p:sp>
      <p:sp>
        <p:nvSpPr>
          <p:cNvPr id="14" name="TextBox 13"/>
          <p:cNvSpPr txBox="1"/>
          <p:nvPr/>
        </p:nvSpPr>
        <p:spPr>
          <a:xfrm>
            <a:off x="8385048" y="1801368"/>
            <a:ext cx="2990088" cy="1170432"/>
          </a:xfrm>
          <a:prstGeom prst="rect">
            <a:avLst/>
          </a:prstGeom>
          <a:noFill/>
        </p:spPr>
        <p:txBody>
          <a:bodyPr wrap="none">
            <a:spAutoFit/>
          </a:bodyPr>
          <a:lstStyle/>
          <a:p>
            <a:pPr>
              <a:defRPr sz="1200">
                <a:solidFill>
                  <a:srgbClr val="5A6470"/>
                </a:solidFill>
                <a:latin typeface="Aptos"/>
              </a:defRPr>
            </a:pPr>
            <a:r>
              <a:t>Separate files make updates easier.</a:t>
            </a:r>
          </a:p>
        </p:txBody>
      </p:sp>
      <p:sp>
        <p:nvSpPr>
          <p:cNvPr id="15" name="Rounded Rectangle 14"/>
          <p:cNvSpPr/>
          <p:nvPr/>
        </p:nvSpPr>
        <p:spPr>
          <a:xfrm>
            <a:off x="594360" y="347472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3474720"/>
            <a:ext cx="73152" cy="1828800"/>
          </a:xfrm>
          <a:prstGeom prst="rect">
            <a:avLst/>
          </a:prstGeom>
          <a:solidFill>
            <a:srgbClr val="B4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3593592"/>
            <a:ext cx="3017520" cy="365760"/>
          </a:xfrm>
          <a:prstGeom prst="rect">
            <a:avLst/>
          </a:prstGeom>
          <a:noFill/>
        </p:spPr>
        <p:txBody>
          <a:bodyPr wrap="none">
            <a:spAutoFit/>
          </a:bodyPr>
          <a:lstStyle/>
          <a:p>
            <a:pPr>
              <a:defRPr sz="1500" b="1">
                <a:solidFill>
                  <a:srgbClr val="192D48"/>
                </a:solidFill>
                <a:latin typeface="Aptos"/>
              </a:defRPr>
            </a:pPr>
            <a:r>
              <a:t>Performance</a:t>
            </a:r>
          </a:p>
        </p:txBody>
      </p:sp>
      <p:sp>
        <p:nvSpPr>
          <p:cNvPr id="18" name="TextBox 17"/>
          <p:cNvSpPr txBox="1"/>
          <p:nvPr/>
        </p:nvSpPr>
        <p:spPr>
          <a:xfrm>
            <a:off x="795528" y="4041648"/>
            <a:ext cx="2990088" cy="1170432"/>
          </a:xfrm>
          <a:prstGeom prst="rect">
            <a:avLst/>
          </a:prstGeom>
          <a:noFill/>
        </p:spPr>
        <p:txBody>
          <a:bodyPr wrap="none">
            <a:spAutoFit/>
          </a:bodyPr>
          <a:lstStyle/>
          <a:p>
            <a:pPr>
              <a:defRPr sz="1200">
                <a:solidFill>
                  <a:srgbClr val="5A6470"/>
                </a:solidFill>
                <a:latin typeface="Aptos"/>
              </a:defRPr>
            </a:pPr>
            <a:r>
              <a:t>Small calculations run quickly.</a:t>
            </a:r>
          </a:p>
        </p:txBody>
      </p:sp>
      <p:sp>
        <p:nvSpPr>
          <p:cNvPr id="19" name="Rounded Rectangle 18"/>
          <p:cNvSpPr/>
          <p:nvPr/>
        </p:nvSpPr>
        <p:spPr>
          <a:xfrm>
            <a:off x="4389120" y="347472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89120" y="3474720"/>
            <a:ext cx="73152" cy="18288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0288" y="3593592"/>
            <a:ext cx="3017520" cy="365760"/>
          </a:xfrm>
          <a:prstGeom prst="rect">
            <a:avLst/>
          </a:prstGeom>
          <a:noFill/>
        </p:spPr>
        <p:txBody>
          <a:bodyPr wrap="none">
            <a:spAutoFit/>
          </a:bodyPr>
          <a:lstStyle/>
          <a:p>
            <a:pPr>
              <a:defRPr sz="1500" b="1">
                <a:solidFill>
                  <a:srgbClr val="192D48"/>
                </a:solidFill>
                <a:latin typeface="Aptos"/>
              </a:defRPr>
            </a:pPr>
            <a:r>
              <a:t>Error Handling</a:t>
            </a:r>
          </a:p>
        </p:txBody>
      </p:sp>
      <p:sp>
        <p:nvSpPr>
          <p:cNvPr id="22" name="TextBox 21"/>
          <p:cNvSpPr txBox="1"/>
          <p:nvPr/>
        </p:nvSpPr>
        <p:spPr>
          <a:xfrm>
            <a:off x="4590288" y="4041648"/>
            <a:ext cx="2990088" cy="1170432"/>
          </a:xfrm>
          <a:prstGeom prst="rect">
            <a:avLst/>
          </a:prstGeom>
          <a:noFill/>
        </p:spPr>
        <p:txBody>
          <a:bodyPr wrap="none">
            <a:spAutoFit/>
          </a:bodyPr>
          <a:lstStyle/>
          <a:p>
            <a:pPr>
              <a:defRPr sz="1200">
                <a:solidFill>
                  <a:srgbClr val="5A6470"/>
                </a:solidFill>
                <a:latin typeface="Aptos"/>
              </a:defRPr>
            </a:pPr>
            <a:r>
              <a:t>Validation helps avoid wrong data.</a:t>
            </a:r>
          </a:p>
        </p:txBody>
      </p:sp>
      <p:sp>
        <p:nvSpPr>
          <p:cNvPr id="23" name="Rounded Rectangle 22"/>
          <p:cNvSpPr/>
          <p:nvPr/>
        </p:nvSpPr>
        <p:spPr>
          <a:xfrm>
            <a:off x="8183880" y="3474720"/>
            <a:ext cx="3337560" cy="182880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83880" y="3474720"/>
            <a:ext cx="73152" cy="182880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85048" y="3593592"/>
            <a:ext cx="3017520" cy="365760"/>
          </a:xfrm>
          <a:prstGeom prst="rect">
            <a:avLst/>
          </a:prstGeom>
          <a:noFill/>
        </p:spPr>
        <p:txBody>
          <a:bodyPr wrap="none">
            <a:spAutoFit/>
          </a:bodyPr>
          <a:lstStyle/>
          <a:p>
            <a:pPr>
              <a:defRPr sz="1500" b="1">
                <a:solidFill>
                  <a:srgbClr val="192D48"/>
                </a:solidFill>
                <a:latin typeface="Aptos"/>
              </a:defRPr>
            </a:pPr>
            <a:r>
              <a:t>Resource Efficiency</a:t>
            </a:r>
          </a:p>
        </p:txBody>
      </p:sp>
      <p:sp>
        <p:nvSpPr>
          <p:cNvPr id="26" name="TextBox 25"/>
          <p:cNvSpPr txBox="1"/>
          <p:nvPr/>
        </p:nvSpPr>
        <p:spPr>
          <a:xfrm>
            <a:off x="8385048" y="4041648"/>
            <a:ext cx="2990088" cy="1170432"/>
          </a:xfrm>
          <a:prstGeom prst="rect">
            <a:avLst/>
          </a:prstGeom>
          <a:noFill/>
        </p:spPr>
        <p:txBody>
          <a:bodyPr wrap="none">
            <a:spAutoFit/>
          </a:bodyPr>
          <a:lstStyle/>
          <a:p>
            <a:pPr>
              <a:defRPr sz="1200">
                <a:solidFill>
                  <a:srgbClr val="5A6470"/>
                </a:solidFill>
                <a:latin typeface="Aptos"/>
              </a:defRPr>
            </a:pPr>
            <a:r>
              <a:t>SQLite is lightweight.</a:t>
            </a:r>
          </a:p>
        </p:txBody>
      </p:sp>
      <p:sp>
        <p:nvSpPr>
          <p:cNvPr id="27" name="Rectangle 26"/>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29" name="TextBox 28"/>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13. Learning &amp; Future Improvements</a:t>
            </a:r>
          </a:p>
        </p:txBody>
      </p:sp>
      <p:sp>
        <p:nvSpPr>
          <p:cNvPr id="3" name="Rounded Rectangle 2"/>
          <p:cNvSpPr/>
          <p:nvPr/>
        </p:nvSpPr>
        <p:spPr>
          <a:xfrm>
            <a:off x="594360" y="1234440"/>
            <a:ext cx="5303520" cy="448056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1234440"/>
            <a:ext cx="73152" cy="448056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53312"/>
            <a:ext cx="4983480" cy="365760"/>
          </a:xfrm>
          <a:prstGeom prst="rect">
            <a:avLst/>
          </a:prstGeom>
          <a:noFill/>
        </p:spPr>
        <p:txBody>
          <a:bodyPr wrap="none">
            <a:spAutoFit/>
          </a:bodyPr>
          <a:lstStyle/>
          <a:p>
            <a:pPr>
              <a:defRPr sz="1500" b="1">
                <a:solidFill>
                  <a:srgbClr val="192D48"/>
                </a:solidFill>
                <a:latin typeface="Aptos"/>
              </a:defRPr>
            </a:pPr>
            <a:r>
              <a:t>What I Learned</a:t>
            </a:r>
          </a:p>
        </p:txBody>
      </p:sp>
      <p:sp>
        <p:nvSpPr>
          <p:cNvPr id="6" name="TextBox 5"/>
          <p:cNvSpPr txBox="1"/>
          <p:nvPr/>
        </p:nvSpPr>
        <p:spPr>
          <a:xfrm>
            <a:off x="795528" y="1801368"/>
            <a:ext cx="4956048" cy="3822192"/>
          </a:xfrm>
          <a:prstGeom prst="rect">
            <a:avLst/>
          </a:prstGeom>
          <a:noFill/>
        </p:spPr>
        <p:txBody>
          <a:bodyPr wrap="none">
            <a:spAutoFit/>
          </a:bodyPr>
          <a:lstStyle/>
          <a:p>
            <a:pPr>
              <a:defRPr sz="1200">
                <a:solidFill>
                  <a:srgbClr val="5A6470"/>
                </a:solidFill>
                <a:latin typeface="Aptos"/>
              </a:defRPr>
            </a:pPr>
            <a:r>
              <a:t>• Python functions</a:t>
            </a:r>
            <a:br/>
            <a:r>
              <a:t>• if / elif / else logic</a:t>
            </a:r>
            <a:br/>
            <a:r>
              <a:t>• User input and validation</a:t>
            </a:r>
            <a:br/>
            <a:r>
              <a:t>• Working with dates</a:t>
            </a:r>
            <a:br/>
            <a:r>
              <a:t>• Basic SQLite</a:t>
            </a:r>
            <a:br/>
            <a:r>
              <a:t>• Splitting code into modules</a:t>
            </a:r>
            <a:br/>
            <a:r>
              <a:t>• Simple recommendation logic</a:t>
            </a:r>
            <a:br/>
            <a:r>
              <a:t>• Project documentation</a:t>
            </a:r>
          </a:p>
        </p:txBody>
      </p:sp>
      <p:sp>
        <p:nvSpPr>
          <p:cNvPr id="7" name="Rounded Rectangle 6"/>
          <p:cNvSpPr/>
          <p:nvPr/>
        </p:nvSpPr>
        <p:spPr>
          <a:xfrm>
            <a:off x="6217920" y="1234440"/>
            <a:ext cx="5349240" cy="4480560"/>
          </a:xfrm>
          <a:prstGeom prst="round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234440"/>
            <a:ext cx="73152" cy="4480560"/>
          </a:xfrm>
          <a:prstGeom prst="rect">
            <a:avLst/>
          </a:prstGeom>
          <a:solidFill>
            <a:srgbClr val="428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1353312"/>
            <a:ext cx="5029200" cy="365760"/>
          </a:xfrm>
          <a:prstGeom prst="rect">
            <a:avLst/>
          </a:prstGeom>
          <a:noFill/>
        </p:spPr>
        <p:txBody>
          <a:bodyPr wrap="none">
            <a:spAutoFit/>
          </a:bodyPr>
          <a:lstStyle/>
          <a:p>
            <a:pPr>
              <a:defRPr sz="1500" b="1">
                <a:solidFill>
                  <a:srgbClr val="192D48"/>
                </a:solidFill>
                <a:latin typeface="Aptos"/>
              </a:defRPr>
            </a:pPr>
            <a:r>
              <a:t>Future Improvements</a:t>
            </a:r>
          </a:p>
        </p:txBody>
      </p:sp>
      <p:sp>
        <p:nvSpPr>
          <p:cNvPr id="10" name="TextBox 9"/>
          <p:cNvSpPr txBox="1"/>
          <p:nvPr/>
        </p:nvSpPr>
        <p:spPr>
          <a:xfrm>
            <a:off x="6419088" y="1801368"/>
            <a:ext cx="5001768" cy="3822192"/>
          </a:xfrm>
          <a:prstGeom prst="rect">
            <a:avLst/>
          </a:prstGeom>
          <a:noFill/>
        </p:spPr>
        <p:txBody>
          <a:bodyPr wrap="none">
            <a:spAutoFit/>
          </a:bodyPr>
          <a:lstStyle/>
          <a:p>
            <a:pPr>
              <a:defRPr sz="1200">
                <a:solidFill>
                  <a:srgbClr val="5A6470"/>
                </a:solidFill>
                <a:latin typeface="Aptos"/>
              </a:defRPr>
            </a:pPr>
            <a:r>
              <a:t>• Streamlit dashboard</a:t>
            </a:r>
            <a:br/>
            <a:r>
              <a:t>• Better topic-level planner</a:t>
            </a:r>
            <a:br/>
            <a:r>
              <a:t>• Reminders</a:t>
            </a:r>
            <a:br/>
            <a:r>
              <a:t>• Marks and attendance charts</a:t>
            </a:r>
            <a:br/>
            <a:r>
              <a:t>• Login system</a:t>
            </a:r>
            <a:br/>
            <a:r>
              <a:t>• Cloud database</a:t>
            </a:r>
            <a:br/>
            <a:r>
              <a:t>• Better recommendation system</a:t>
            </a:r>
            <a:br/>
            <a:r>
              <a:t>• Later, ML-based recommendations</a:t>
            </a:r>
          </a:p>
        </p:txBody>
      </p:sp>
      <p:sp>
        <p:nvSpPr>
          <p:cNvPr id="11" name="Rectangle 10"/>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13" name="TextBox 12"/>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14. Conclusion</a:t>
            </a:r>
          </a:p>
        </p:txBody>
      </p:sp>
      <p:sp>
        <p:nvSpPr>
          <p:cNvPr id="3" name="TextBox 2"/>
          <p:cNvSpPr txBox="1"/>
          <p:nvPr/>
        </p:nvSpPr>
        <p:spPr>
          <a:xfrm>
            <a:off x="914400" y="1508760"/>
            <a:ext cx="10332720" cy="1828800"/>
          </a:xfrm>
          <a:prstGeom prst="rect">
            <a:avLst/>
          </a:prstGeom>
          <a:noFill/>
        </p:spPr>
        <p:txBody>
          <a:bodyPr wrap="none">
            <a:spAutoFit/>
          </a:bodyPr>
          <a:lstStyle/>
          <a:p>
            <a:pPr algn="ctr">
              <a:defRPr sz="2400">
                <a:solidFill>
                  <a:srgbClr val="192D48"/>
                </a:solidFill>
                <a:latin typeface="Aptos"/>
              </a:defRPr>
            </a:pPr>
            <a:r>
              <a:t>StudyMate AI is a small project made to help students manage academic information in one place.</a:t>
            </a:r>
          </a:p>
          <a:p>
            <a:pPr algn="ctr">
              <a:defRPr sz="1800">
                <a:solidFill>
                  <a:srgbClr val="5A6470"/>
                </a:solidFill>
                <a:latin typeface="Aptos"/>
              </a:defRPr>
            </a:pPr>
            <a:r>
              <a:t>It combines marks, attendance and exam dates to give a simple priority, recommendation and study plan.</a:t>
            </a:r>
          </a:p>
        </p:txBody>
      </p:sp>
      <p:sp>
        <p:nvSpPr>
          <p:cNvPr id="4" name="Rounded Rectangle 3"/>
          <p:cNvSpPr/>
          <p:nvPr/>
        </p:nvSpPr>
        <p:spPr>
          <a:xfrm>
            <a:off x="1828800" y="3977639"/>
            <a:ext cx="2194560" cy="822960"/>
          </a:xfrm>
          <a:prstGeom prst="roundRect">
            <a:avLst/>
          </a:prstGeom>
          <a:solidFill>
            <a:srgbClr val="E2EEFA"/>
          </a:solidFill>
          <a:ln w="19050">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901952" y="4032503"/>
            <a:ext cx="2048255" cy="713232"/>
          </a:xfrm>
          <a:prstGeom prst="rect">
            <a:avLst/>
          </a:prstGeom>
          <a:noFill/>
        </p:spPr>
        <p:txBody>
          <a:bodyPr wrap="none" anchor="ctr">
            <a:spAutoFit/>
          </a:bodyPr>
          <a:lstStyle/>
          <a:p>
            <a:pPr algn="ctr">
              <a:defRPr sz="1600" b="1">
                <a:solidFill>
                  <a:srgbClr val="192D48"/>
                </a:solidFill>
                <a:latin typeface="Aptos"/>
              </a:defRPr>
            </a:pPr>
            <a:r>
              <a:t>Analyze</a:t>
            </a:r>
          </a:p>
        </p:txBody>
      </p:sp>
      <p:sp>
        <p:nvSpPr>
          <p:cNvPr id="6" name="Rounded Rectangle 5"/>
          <p:cNvSpPr/>
          <p:nvPr/>
        </p:nvSpPr>
        <p:spPr>
          <a:xfrm>
            <a:off x="4983480" y="3977639"/>
            <a:ext cx="2194560" cy="822960"/>
          </a:xfrm>
          <a:prstGeom prst="roundRect">
            <a:avLst/>
          </a:prstGeom>
          <a:solidFill>
            <a:srgbClr val="E5F2E8"/>
          </a:solidFill>
          <a:ln w="19050">
            <a:solidFill>
              <a:srgbClr val="428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56632" y="4032503"/>
            <a:ext cx="2048255" cy="713232"/>
          </a:xfrm>
          <a:prstGeom prst="rect">
            <a:avLst/>
          </a:prstGeom>
          <a:noFill/>
        </p:spPr>
        <p:txBody>
          <a:bodyPr wrap="none" anchor="ctr">
            <a:spAutoFit/>
          </a:bodyPr>
          <a:lstStyle/>
          <a:p>
            <a:pPr algn="ctr">
              <a:defRPr sz="1600" b="1">
                <a:solidFill>
                  <a:srgbClr val="192D48"/>
                </a:solidFill>
                <a:latin typeface="Aptos"/>
              </a:defRPr>
            </a:pPr>
            <a:r>
              <a:t>Recommend</a:t>
            </a:r>
          </a:p>
        </p:txBody>
      </p:sp>
      <p:sp>
        <p:nvSpPr>
          <p:cNvPr id="8" name="Rounded Rectangle 7"/>
          <p:cNvSpPr/>
          <p:nvPr/>
        </p:nvSpPr>
        <p:spPr>
          <a:xfrm>
            <a:off x="8138160" y="3977639"/>
            <a:ext cx="2194560" cy="822960"/>
          </a:xfrm>
          <a:prstGeom prst="roundRect">
            <a:avLst/>
          </a:prstGeom>
          <a:solidFill>
            <a:srgbClr val="FAEEDE"/>
          </a:solidFill>
          <a:ln w="1905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4032503"/>
            <a:ext cx="2048255" cy="713232"/>
          </a:xfrm>
          <a:prstGeom prst="rect">
            <a:avLst/>
          </a:prstGeom>
          <a:noFill/>
        </p:spPr>
        <p:txBody>
          <a:bodyPr wrap="none" anchor="ctr">
            <a:spAutoFit/>
          </a:bodyPr>
          <a:lstStyle/>
          <a:p>
            <a:pPr algn="ctr">
              <a:defRPr sz="1600" b="1">
                <a:solidFill>
                  <a:srgbClr val="192D48"/>
                </a:solidFill>
                <a:latin typeface="Aptos"/>
              </a:defRPr>
            </a:pPr>
            <a:r>
              <a:t>Plan</a:t>
            </a:r>
          </a:p>
        </p:txBody>
      </p:sp>
      <p:sp>
        <p:nvSpPr>
          <p:cNvPr id="10" name="Rectangle 9"/>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12" name="TextBox 11"/>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94360"/>
          </a:xfrm>
          <a:prstGeom prst="rect">
            <a:avLst/>
          </a:prstGeom>
          <a:noFill/>
        </p:spPr>
        <p:txBody>
          <a:bodyPr wrap="none">
            <a:spAutoFit/>
          </a:bodyPr>
          <a:lstStyle/>
          <a:p>
            <a:pPr>
              <a:defRPr sz="2700" b="1">
                <a:solidFill>
                  <a:srgbClr val="192D48"/>
                </a:solidFill>
                <a:latin typeface="Aptos Display"/>
              </a:defRPr>
            </a:pPr>
            <a:r>
              <a:t>15. References</a:t>
            </a:r>
          </a:p>
        </p:txBody>
      </p:sp>
      <p:sp>
        <p:nvSpPr>
          <p:cNvPr id="3" name="TextBox 2"/>
          <p:cNvSpPr txBox="1"/>
          <p:nvPr/>
        </p:nvSpPr>
        <p:spPr>
          <a:xfrm>
            <a:off x="777240" y="1234440"/>
            <a:ext cx="10698480" cy="4937760"/>
          </a:xfrm>
          <a:prstGeom prst="rect">
            <a:avLst/>
          </a:prstGeom>
          <a:noFill/>
        </p:spPr>
        <p:txBody>
          <a:bodyPr wrap="square">
            <a:spAutoFit/>
          </a:bodyPr>
          <a:lstStyle/>
          <a:p>
            <a:pPr>
              <a:spcAft>
                <a:spcPts val="1000"/>
              </a:spcAft>
              <a:defRPr sz="1700">
                <a:solidFill>
                  <a:srgbClr val="191919"/>
                </a:solidFill>
                <a:latin typeface="Aptos"/>
              </a:defRPr>
            </a:pPr>
            <a:r>
              <a:t>• VITyarthi Build Your Own Project guidelines provided for the project.</a:t>
            </a:r>
          </a:p>
          <a:p>
            <a:pPr>
              <a:spcAft>
                <a:spcPts val="1000"/>
              </a:spcAft>
              <a:defRPr sz="1700">
                <a:solidFill>
                  <a:srgbClr val="191919"/>
                </a:solidFill>
                <a:latin typeface="Aptos"/>
              </a:defRPr>
            </a:pPr>
            <a:r>
              <a:t>• Python classroom learning and basic Python concepts.</a:t>
            </a:r>
          </a:p>
          <a:p>
            <a:pPr>
              <a:spcAft>
                <a:spcPts val="1000"/>
              </a:spcAft>
              <a:defRPr sz="1700">
                <a:solidFill>
                  <a:srgbClr val="191919"/>
                </a:solidFill>
                <a:latin typeface="Aptos"/>
              </a:defRPr>
            </a:pPr>
            <a:r>
              <a:t>• SQLite / sqlite3 concepts used in the project.</a:t>
            </a:r>
          </a:p>
          <a:p>
            <a:pPr>
              <a:spcAft>
                <a:spcPts val="1000"/>
              </a:spcAft>
              <a:defRPr sz="1700">
                <a:solidFill>
                  <a:srgbClr val="191919"/>
                </a:solidFill>
                <a:latin typeface="Aptos"/>
              </a:defRPr>
            </a:pPr>
            <a:r>
              <a:t>• Project source code and testing done during development.</a:t>
            </a:r>
          </a:p>
        </p:txBody>
      </p:sp>
      <p:sp>
        <p:nvSpPr>
          <p:cNvPr id="4" name="Rectangle 3"/>
          <p:cNvSpPr/>
          <p:nvPr/>
        </p:nvSpPr>
        <p:spPr>
          <a:xfrm>
            <a:off x="0" y="6565392"/>
            <a:ext cx="12191695" cy="292608"/>
          </a:xfrm>
          <a:prstGeom prst="rect">
            <a:avLst/>
          </a:prstGeom>
          <a:solidFill>
            <a:srgbClr val="19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10058400" cy="182880"/>
          </a:xfrm>
          <a:prstGeom prst="rect">
            <a:avLst/>
          </a:prstGeom>
          <a:noFill/>
        </p:spPr>
        <p:txBody>
          <a:bodyPr wrap="none">
            <a:spAutoFit/>
          </a:bodyPr>
          <a:lstStyle/>
          <a:p>
            <a:pPr>
              <a:defRPr sz="800">
                <a:solidFill>
                  <a:srgbClr val="FFFFFF"/>
                </a:solidFill>
                <a:latin typeface="Aptos"/>
              </a:defRPr>
            </a:pPr>
            <a:r>
              <a:t>StudyMate AI  |  Prakshal Gadia  |  VIT Bhopal University</a:t>
            </a:r>
          </a:p>
        </p:txBody>
      </p:sp>
      <p:sp>
        <p:nvSpPr>
          <p:cNvPr id="6" name="TextBox 5"/>
          <p:cNvSpPr txBox="1"/>
          <p:nvPr/>
        </p:nvSpPr>
        <p:spPr>
          <a:xfrm>
            <a:off x="11109960" y="6583680"/>
            <a:ext cx="502920" cy="182880"/>
          </a:xfrm>
          <a:prstGeom prst="rect">
            <a:avLst/>
          </a:prstGeom>
          <a:noFill/>
        </p:spPr>
        <p:txBody>
          <a:bodyPr wrap="none">
            <a:spAutoFit/>
          </a:bodyPr>
          <a:lstStyle/>
          <a:p>
            <a:pPr algn="r">
              <a:defRPr sz="800">
                <a:solidFill>
                  <a:srgbClr val="FFFFFF"/>
                </a:solidFill>
                <a:latin typeface="Aptos"/>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971</Words>
  <Application>Microsoft Office PowerPoint</Application>
  <PresentationFormat>Widescreen</PresentationFormat>
  <Paragraphs>187</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prafullgadia7090@outlook.com</cp:lastModifiedBy>
  <cp:revision>1</cp:revision>
  <dcterms:created xsi:type="dcterms:W3CDTF">2013-01-27T09:14:16Z</dcterms:created>
  <dcterms:modified xsi:type="dcterms:W3CDTF">2026-09-25T07:48:14Z</dcterms:modified>
  <cp:category/>
</cp:coreProperties>
</file>